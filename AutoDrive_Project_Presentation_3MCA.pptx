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  <p:sldMasterId id="2147483650" r:id="rId2"/>
  </p:sldMasterIdLst>
  <p:notesMasterIdLst>
    <p:notesMasterId r:id="rId4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jfacsQjeLQTl4Wq8LXj0rnjzjV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FBF52A-729C-4566-B371-E38BB0ACAC22}">
  <a:tblStyle styleId="{58FBF52A-729C-4566-B371-E38BB0ACAC22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9A7A708-BC0A-4EE3-89A3-728B4DACB3E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56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340c2eaae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g3340c2eaaed_0_1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2" name="Google Shape;122;g3340c2eaaed_0_17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40c2eaaed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340c2eaaed_0_18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3340c2eaaed_0_18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40c2eaaed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340c2eaaed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3340c2eaaed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40c2eaaed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3340c2eaaed_0_19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g3340c2eaaed_0_19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340c2eaaed_0_2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340c2eaaed_0_218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340c2eaaed_0_218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40c2eaaed_0_4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g3340c2eaaed_0_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340c2eaaed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g3340c2eaaed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340c2eaaed_0_1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340c2eaaed_0_18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g3340c2eaaed_0_18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340c2eaaed_0_1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3340c2eaaed_0_15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g3340c2eaaed_0_150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40c2eaaed_0_9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3340c2eaaed_0_9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g3340c2eaaed_0_9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346804e54d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3346804e54d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g3346804e54d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346804e54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346804e54d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3346804e54d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346804e54d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346804e54d_0_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g3346804e54d_0_2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46804e54d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346804e54d_0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346804e54d_0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46804e54d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g3346804e54d_0_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g3346804e54d_0_4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8" name="Google Shape;25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9" name="Google Shape;25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5" name="Google Shape;29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346804e54d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3346804e54d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g3346804e54d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346804e54d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2" name="Google Shape;332;g3346804e54d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5" name="Google Shape;3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46804e54d_0_6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9" name="Google Shape;359;g3346804e54d_0_6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346804e54d_0_1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g3346804e54d_0_1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346804e54d_0_1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5" name="Google Shape;375;g3346804e54d_0_1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346804e54d_0_14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g3346804e54d_0_14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46804e54d_0_15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3346804e54d_0_15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346804e54d_0_18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2" name="Google Shape;402;g3346804e54d_0_18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346804e54d_0_1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g3346804e54d_0_1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346804e54d_0_20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" name="Google Shape;419;g3346804e54d_0_20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346804e54d_0_2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g3346804e54d_0_2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346804e54d_0_5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7" name="Google Shape;437;g3346804e54d_0_5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346804e54d_0_6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g3346804e54d_0_6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346804e54d_0_65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5" name="Google Shape;455;g3346804e54d_0_65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346804e54d_0_114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4" name="Google Shape;464;g3346804e54d_0_114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346804e54d_0_14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3" name="Google Shape;473;g3346804e54d_0_14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346804e54d_0_17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2" name="Google Shape;482;g3346804e54d_0_17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346804e54d_0_179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1" name="Google Shape;491;g3346804e54d_0_179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346804e54d_0_180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9" name="Google Shape;499;g3346804e54d_0_180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346804e54d_0_180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7" name="Google Shape;507;g3346804e54d_0_180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346804e54d_0_180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5" name="Google Shape;515;g3346804e54d_0_180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346804e54d_0_17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3" name="Google Shape;523;g3346804e54d_0_17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346804e54d_0_177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1" name="Google Shape;531;g3346804e54d_0_177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346804e54d_0_178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9" name="Google Shape;539;g3346804e54d_0_178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4" name="Google Shape;34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62288" y="0"/>
            <a:ext cx="1997850" cy="57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1" name="Google Shape;41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body" idx="1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2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9" name="Google Shape;49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2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3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4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0" cap="none">
                <a:solidFill>
                  <a:srgbClr val="6B8890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sz="19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Bookman Old Style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1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25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marL="914400" lvl="1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marL="1371600" lvl="2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marL="2743200" lvl="5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2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8" name="Google Shape;68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w="38100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74300" tIns="182875" rIns="274300" bIns="182875" anchor="ctr" anchorCtr="1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Bookman Old Style"/>
              <a:buNone/>
              <a:defRPr sz="38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40404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1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Bookman Old Style"/>
              <a:buNone/>
              <a:defRPr sz="22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7"/>
          <p:cNvSpPr>
            <a:spLocks noGrp="1"/>
          </p:cNvSpPr>
          <p:nvPr>
            <p:ph type="pic" idx="2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8" name="Google Shape;88;p17"/>
          <p:cNvSpPr txBox="1">
            <a:spLocks noGrp="1"/>
          </p:cNvSpPr>
          <p:nvPr>
            <p:ph type="body" idx="1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ft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Bookman Old Style"/>
              <a:buNone/>
              <a:defRPr sz="2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FEFEFE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Bookman Old Style"/>
              <a:buNone/>
              <a:defRPr sz="2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dt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ft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/>
        </p:nvSpPr>
        <p:spPr>
          <a:xfrm>
            <a:off x="95250" y="0"/>
            <a:ext cx="12192000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800" b="1" i="0" u="none" strike="noStrike" cap="non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Silver Oak College of Computer Application </a:t>
            </a:r>
            <a:endParaRPr sz="2800" b="1" i="0" u="none" strike="noStrike" cap="non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400" b="1" i="0" u="none" strike="noStrike" cap="none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Application </a:t>
            </a:r>
            <a:endParaRPr sz="2400" b="1" i="0" u="none" strike="noStrike" cap="none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0" y="1200600"/>
            <a:ext cx="12192000" cy="407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1600" b="1">
                <a:solidFill>
                  <a:srgbClr val="0C2340"/>
                </a:solidFill>
              </a:defRPr>
            </a:pPr>
            <a:r>
              <a:rPr dirty="0"/>
              <a:t>A PROJECT PRESENTATION</a:t>
            </a:r>
            <a:br>
              <a:rPr dirty="0"/>
            </a:br>
            <a:r>
              <a:rPr dirty="0"/>
              <a:t>ON</a:t>
            </a:r>
            <a:br>
              <a:rPr dirty="0"/>
            </a:br>
            <a:endParaRPr sz="9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Aft>
                <a:spcPts val="1400"/>
              </a:spcAft>
              <a:defRPr sz="2200" b="1">
                <a:solidFill>
                  <a:srgbClr val="B48214"/>
                </a:solidFill>
              </a:defRPr>
            </a:pPr>
            <a:r>
              <a:rPr dirty="0"/>
              <a:t>AUTODRIVE: MODERN LUXURY CAR RENTAL SYSTEM &amp; FLEET SAAS</a:t>
            </a:r>
            <a:br>
              <a:rPr dirty="0"/>
            </a:br>
            <a:endParaRPr dirty="0"/>
          </a:p>
          <a:p>
            <a:pPr>
              <a:defRPr sz="1300">
                <a:solidFill>
                  <a:srgbClr val="282C34"/>
                </a:solidFill>
              </a:defRPr>
            </a:pPr>
            <a:r>
              <a:rPr dirty="0"/>
              <a:t>Submitted By:</a:t>
            </a:r>
            <a:br>
              <a:rPr dirty="0"/>
            </a:br>
            <a:r>
              <a:rPr lang="en-IN" dirty="0"/>
              <a:t>Meet Parekh</a:t>
            </a:r>
            <a:r>
              <a:rPr dirty="0"/>
              <a:t>(Enrollment: </a:t>
            </a:r>
            <a:r>
              <a:rPr lang="en-IN" dirty="0"/>
              <a:t>2504070100175</a:t>
            </a:r>
            <a:r>
              <a:rPr dirty="0"/>
              <a:t>)</a:t>
            </a:r>
            <a:br>
              <a:rPr dirty="0"/>
            </a:br>
            <a:br>
              <a:rPr dirty="0"/>
            </a:br>
            <a:r>
              <a:rPr dirty="0"/>
              <a:t>Master of Computer Application (MCA) - Semester III</a:t>
            </a:r>
            <a:br>
              <a:rPr dirty="0"/>
            </a:br>
            <a:br>
              <a:rPr dirty="0"/>
            </a:br>
            <a:r>
              <a:rPr dirty="0"/>
              <a:t>Internal Guide:</a:t>
            </a:r>
            <a:br>
              <a:rPr dirty="0"/>
            </a:br>
            <a:r>
              <a:rPr dirty="0"/>
              <a:t>Mr. </a:t>
            </a:r>
            <a:r>
              <a:rPr lang="en-IN" dirty="0"/>
              <a:t>Dhruv Patel</a:t>
            </a:r>
            <a:r>
              <a:rPr dirty="0"/>
              <a:t>, Assistant Professor</a:t>
            </a:r>
            <a:br>
              <a:rPr dirty="0"/>
            </a:br>
            <a:br>
              <a:rPr dirty="0"/>
            </a:br>
            <a:r>
              <a:rPr dirty="0"/>
              <a:t>Submitted To:</a:t>
            </a:r>
            <a:br>
              <a:rPr dirty="0"/>
            </a:br>
            <a:r>
              <a:rPr dirty="0"/>
              <a:t>Department of Computer Application</a:t>
            </a:r>
            <a:br>
              <a:rPr dirty="0"/>
            </a:br>
            <a:r>
              <a:rPr dirty="0"/>
              <a:t>Silver Oak University, Gota, Ahmedabad - 382481</a:t>
            </a:r>
            <a:br>
              <a:rPr dirty="0"/>
            </a:br>
            <a:r>
              <a:rPr dirty="0"/>
              <a:t>Academic Year: 2026-2027</a:t>
            </a:r>
          </a:p>
        </p:txBody>
      </p:sp>
      <p:pic>
        <p:nvPicPr>
          <p:cNvPr id="110" name="Google Shape;11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77450" y="66675"/>
            <a:ext cx="20288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/>
        </p:nvSpPr>
        <p:spPr>
          <a:xfrm>
            <a:off x="82550" y="171450"/>
            <a:ext cx="12109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IN" sz="24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PROJECT PROFILE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2"/>
          <p:cNvGraphicFramePr/>
          <p:nvPr/>
        </p:nvGraphicFramePr>
        <p:xfrm>
          <a:off x="898550" y="1047700"/>
          <a:ext cx="10153650" cy="5080625"/>
        </p:xfrm>
        <a:graphic>
          <a:graphicData uri="http://schemas.openxmlformats.org/drawingml/2006/table">
            <a:tbl>
              <a:tblPr firstRow="1" bandRow="1">
                <a:noFill/>
                <a:tableStyleId>{58FBF52A-729C-4566-B371-E38BB0ACAC22}</a:tableStyleId>
              </a:tblPr>
              <a:tblGrid>
                <a:gridCol w="3293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0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97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Profile: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AUTODRIVE - Modern Luxury Car Rental System &amp; Fleet SaaS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1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Objective: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To engineer an enterprise-grade cloud car rental platform that eliminates slot collisions and double-booking losses through a mathematical date range interval engine, automates multi-day tiered discounts (10% &amp; 25%), integrates certified chauffeur dispatching, and provides an authentic dual-mode Razorpay gateway with an in-browser 3D Secure bank simulator.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Platform / Type: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Full-Stack Web Application (Enterprise SaaS / Cloud-Ready)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Front-End Stack: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HTML5, CSS3 Glassmorphism, Bootstrap 5.3.3, JavaScript ES6+, FontAwesome Pro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Back-End Framework: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Python 3.12 / 3.14, Django 5.x Web Framework (MVT Architecture)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Database Engine: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SQLite 3.45 (Development) / PostgreSQL 16 (Production ACID Transactions)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52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Payment Gateway: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Razorpay Checkout.js SDK v1 + Integrated 3D Secure Bank Simulator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Project Duration: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3 Months (MCA 3rd Semester Minor Project - CAM6053C)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7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Submitted By / To: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Kapil Dave (2304070100022) | Department of Computer Application, SOU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7" name="Google Shape;117;p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10800" y="66675"/>
            <a:ext cx="189547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340c2eaaed_0_171"/>
          <p:cNvSpPr txBox="1">
            <a:spLocks noGrp="1"/>
          </p:cNvSpPr>
          <p:nvPr>
            <p:ph type="title"/>
          </p:nvPr>
        </p:nvSpPr>
        <p:spPr>
          <a:xfrm>
            <a:off x="2231125" y="222250"/>
            <a:ext cx="7729800" cy="9144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2000"/>
              <a:buFont typeface="Arial"/>
              <a:buNone/>
              <a:defRPr sz="1800" b="1">
                <a:solidFill>
                  <a:srgbClr val="0C2340"/>
                </a:solidFill>
                <a:latin typeface="Calibri"/>
              </a:defRPr>
            </a:pPr>
            <a:r>
              <a:rPr lang="en-GB" dirty="0"/>
              <a:t>2. LIMITATIONS OF EXISTING CAR RENTAL SYSTEMS</a:t>
            </a:r>
            <a:endParaRPr lang="en-GB" sz="2200" b="1" u="sng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g3340c2eaaed_0_171"/>
          <p:cNvSpPr txBox="1">
            <a:spLocks noGrp="1"/>
          </p:cNvSpPr>
          <p:nvPr>
            <p:ph type="body" idx="1"/>
          </p:nvPr>
        </p:nvSpPr>
        <p:spPr>
          <a:xfrm>
            <a:off x="1035022" y="1708150"/>
            <a:ext cx="10089600" cy="4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Noto Sans Symbols"/>
              <a:buChar char="⮚"/>
              <a:defRPr sz="1800" b="1">
                <a:solidFill>
                  <a:srgbClr val="0C2340"/>
                </a:solidFill>
                <a:latin typeface="Calibri"/>
              </a:defRPr>
            </a:pPr>
            <a:r>
              <a:rPr dirty="0"/>
              <a:t>2. LIMITATIONS OF EXISTING CAR RENTAL SYSTEMS</a:t>
            </a:r>
            <a:endParaRPr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Manual Counter Procedures: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Legacy car rental relies on paper contracts, phone-based scheduling, and physical registers prone to clerical discrepancies.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Concurrency &amp; Double-Booking Failures: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Conventional systems lack real-time date interval collision algorithms, resulting in simultaneous bookings of the same vehicle for overlapping dates.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Decoupled Chauffeur Management: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Drivers are dispatched manually through offline phone calls, causing driver double-scheduling and zero automated availability tracking.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Static, Opaque Pricing: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Rates remain rigid with no automated multi-day duration incentives or transparent dynamic pricing breakdowns for extended rentals.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Payment Sandbox Obstacles: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Production payment gateways require business KYC, while public demo keys lack active instruments on local test servers, frequently producing 'No appropriate payment method found' errors during academic evaluation.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Dated User Experience: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Cluttered legacy interfaces with poor contrast and no mobile responsiveness undermine customer trust in luxury fleet services.</a:t>
            </a:r>
          </a:p>
        </p:txBody>
      </p:sp>
      <p:sp>
        <p:nvSpPr>
          <p:cNvPr id="126" name="Google Shape;126;g3340c2eaaed_0_17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27" name="Google Shape;127;g3340c2eaaed_0_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40c2eaaed_0_185"/>
          <p:cNvSpPr txBox="1">
            <a:spLocks noGrp="1"/>
          </p:cNvSpPr>
          <p:nvPr>
            <p:ph type="title"/>
          </p:nvPr>
        </p:nvSpPr>
        <p:spPr>
          <a:xfrm>
            <a:off x="2078725" y="183650"/>
            <a:ext cx="7729800" cy="9150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1">
                <a:solidFill>
                  <a:srgbClr val="0C2340"/>
                </a:solidFill>
                <a:latin typeface="Calibri"/>
              </a:defRPr>
            </a:pPr>
            <a:r>
              <a:t>3. NEED FOR NEW SYSTEM (AUTODRIVE)</a:t>
            </a:r>
            <a:endParaRPr sz="2400"/>
          </a:p>
        </p:txBody>
      </p:sp>
      <p:sp>
        <p:nvSpPr>
          <p:cNvPr id="134" name="Google Shape;134;g3340c2eaaed_0_185"/>
          <p:cNvSpPr txBox="1">
            <a:spLocks noGrp="1"/>
          </p:cNvSpPr>
          <p:nvPr>
            <p:ph type="body" idx="1"/>
          </p:nvPr>
        </p:nvSpPr>
        <p:spPr>
          <a:xfrm>
            <a:off x="1474350" y="1574800"/>
            <a:ext cx="9284700" cy="46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sz="1100" b="1">
                <a:solidFill>
                  <a:srgbClr val="0C2340"/>
                </a:solidFill>
                <a:latin typeface="Calibri"/>
              </a:rPr>
              <a:t>Guaranteed Slot Availability: </a:t>
            </a:r>
            <a:r>
              <a:rPr sz="1100">
                <a:solidFill>
                  <a:srgbClr val="282C34"/>
                </a:solidFill>
                <a:latin typeface="Calibri"/>
              </a:rPr>
              <a:t>Mathematical interval overlap checking (start_date &lt;= end_B and end_date &gt;= start_B) prevents vehicle and chauffeur double-bookings.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C2340"/>
                </a:solidFill>
                <a:latin typeface="Calibri"/>
              </a:rPr>
              <a:t>Dynamic Tiered Pricing: </a:t>
            </a:r>
            <a:r>
              <a:rPr sz="1100">
                <a:solidFill>
                  <a:srgbClr val="282C34"/>
                </a:solidFill>
                <a:latin typeface="Calibri"/>
              </a:rPr>
              <a:t>Automated multi-day discounts (10% for &gt;= 3 days, 25% for &gt;= 7 days) and live chauffeur surcharges.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0C2340"/>
                </a:solidFill>
                <a:latin typeface="Calibri"/>
              </a:rPr>
              <a:t>Dual-Mode Razorpay Gateway: </a:t>
            </a:r>
            <a:r>
              <a:rPr sz="1100">
                <a:solidFill>
                  <a:srgbClr val="282C34"/>
                </a:solidFill>
                <a:latin typeface="Calibri"/>
              </a:rPr>
              <a:t>Provides live checkout.js popup alongside an integrated 3D Secure bank simulator for 100% reliable evaluation.</a:t>
            </a:r>
          </a:p>
        </p:txBody>
      </p:sp>
      <p:sp>
        <p:nvSpPr>
          <p:cNvPr id="135" name="Google Shape;135;g3340c2eaaed_0_185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graphicFrame>
        <p:nvGraphicFramePr>
          <p:cNvPr id="136" name="Google Shape;136;g3340c2eaaed_0_185"/>
          <p:cNvGraphicFramePr/>
          <p:nvPr/>
        </p:nvGraphicFramePr>
        <p:xfrm>
          <a:off x="1714525" y="3594735"/>
          <a:ext cx="8458200" cy="2529900"/>
        </p:xfrm>
        <a:graphic>
          <a:graphicData uri="http://schemas.openxmlformats.org/drawingml/2006/table">
            <a:tbl>
              <a:tblPr firstRow="1" bandRow="1">
                <a:noFill/>
                <a:tableStyleId>{58FBF52A-729C-4566-B371-E38BB0ACAC22}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 / Solution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UI / UX Design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Slot Collision Engine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Chauffeur Dispatch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 Discounts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Legacy Rental Counters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Paper / Legacy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Manual Check (High Error)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Offline / External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Manual Promo Codes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P2P Marketplaces (Turo)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Standard Web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Host Dependent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Host Discretion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On-Demand Apps (Zoomcar)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Mobile Only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Algorithmic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Supported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Surge Dynamic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AutoDrive CRS (Proposed)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Luxury Glassmorphic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Strict Mathematical Interval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Native Chauffeur Engine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Automated Tiers (10% &amp; 25%)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Enterprise Advantage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High Visual Trust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100% Zero-Conflict Guarantee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Real-Time Driver Sync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Transparent Cost Savings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37" name="Google Shape;137;g3340c2eaaed_0_1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40c2eaaed_0_192"/>
          <p:cNvSpPr txBox="1">
            <a:spLocks noGrp="1"/>
          </p:cNvSpPr>
          <p:nvPr>
            <p:ph type="title"/>
          </p:nvPr>
        </p:nvSpPr>
        <p:spPr>
          <a:xfrm>
            <a:off x="2231100" y="146050"/>
            <a:ext cx="7729800" cy="8382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400" b="1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FUNCTIONAL SPECIFICATION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4" name="Google Shape;144;g3340c2eaaed_0_192"/>
          <p:cNvSpPr txBox="1">
            <a:spLocks noGrp="1"/>
          </p:cNvSpPr>
          <p:nvPr>
            <p:ph type="body" idx="1"/>
          </p:nvPr>
        </p:nvSpPr>
        <p:spPr>
          <a:xfrm>
            <a:off x="882650" y="2053550"/>
            <a:ext cx="10134600" cy="41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  <a:defRPr sz="1800" b="1">
                <a:solidFill>
                  <a:srgbClr val="0C2340"/>
                </a:solidFill>
                <a:latin typeface="Calibri"/>
              </a:defRPr>
            </a:pPr>
            <a:r>
              <a:rPr dirty="0"/>
              <a:t>4.1 USER OF THE SYSTEM: FLEET ADMINISTRATOR / MANAGER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Fleet Inventory Management: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Full CRUD operations to add, inspect, update, and retire luxury vehicles with specifications (Horsepower, Top Speed, 0-60 mph, Transmission, Daily Rate).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Vehicle Classification Control: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Categorize fleet into Electric Supercars, Luxury Sedans, Track Bikes, VIP 8-Seater Vans, and Luxury SUVs.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Certified Chauffeur Oversight: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Manage professional drivers, commercial license verification, customer ratings, daily fees, and active assignment status.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Booking Lifecycle Administration: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Real-time transition controls for reservations (CONFIRMED, COMPLETED, CANCELLED).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Business Revenue Intelligence: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Dynamic dashboard aggregating total vehicles, active bookings, fleet utilization percentage, and gross revenue.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Security &amp; Access Guarding: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Enforce Django staff/superuser decorators to protect administrative operational endpoints.</a:t>
            </a:r>
          </a:p>
        </p:txBody>
      </p:sp>
      <p:sp>
        <p:nvSpPr>
          <p:cNvPr id="145" name="Google Shape;145;g3340c2eaaed_0_19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47" name="Google Shape;147;g3340c2eaaed_0_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40c2eaaed_0_199"/>
          <p:cNvSpPr txBox="1">
            <a:spLocks noGrp="1"/>
          </p:cNvSpPr>
          <p:nvPr>
            <p:ph type="title"/>
          </p:nvPr>
        </p:nvSpPr>
        <p:spPr>
          <a:xfrm>
            <a:off x="2231100" y="107448"/>
            <a:ext cx="7729800" cy="8388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buClr>
                <a:schemeClr val="dk1"/>
              </a:buClr>
              <a:buSzPts val="2000"/>
              <a:defRPr sz="1800" b="1">
                <a:solidFill>
                  <a:srgbClr val="0C2340"/>
                </a:solidFill>
                <a:latin typeface="Calibri"/>
              </a:defRPr>
            </a:pPr>
            <a:r>
              <a:rPr lang="en-GB" sz="12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 USER OF THE SYSTEM</a:t>
            </a:r>
            <a:br>
              <a:rPr lang="en-GB" sz="105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dirty="0">
              <a:solidFill>
                <a:srgbClr val="282C34"/>
              </a:solidFill>
              <a:latin typeface="Calibri"/>
            </a:endParaRPr>
          </a:p>
        </p:txBody>
      </p:sp>
      <p:sp>
        <p:nvSpPr>
          <p:cNvPr id="154" name="Google Shape;154;g3340c2eaaed_0_199"/>
          <p:cNvSpPr txBox="1">
            <a:spLocks noGrp="1"/>
          </p:cNvSpPr>
          <p:nvPr>
            <p:ph type="body" idx="1"/>
          </p:nvPr>
        </p:nvSpPr>
        <p:spPr>
          <a:xfrm>
            <a:off x="673100" y="2336800"/>
            <a:ext cx="10451400" cy="3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800"/>
              <a:buFont typeface="Arial"/>
              <a:buNone/>
              <a:defRPr sz="1800" b="1">
                <a:solidFill>
                  <a:srgbClr val="0C2340"/>
                </a:solidFill>
                <a:latin typeface="Calibri"/>
              </a:defRPr>
            </a:pPr>
            <a:r>
              <a:rPr dirty="0"/>
              <a:t>4.2 USER OF THE SYSTEM: CUSTOMER / RENTER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Live Fleet Browsing &amp; Filtering: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Interactive catalog supporting instant filtering by category slug, transmission type, fuel source, and search terms.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Real-Time Availability Calendar: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Interactive date pickers enforcing mathematical slot collision validation against active database reservations.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Dynamic Pricing Engine: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Instant in-browser subtotal, multi-day discount calculation (10% &amp; 25%), and driver service fee adjustments.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Self-Drive vs Chauffeur Toggle: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One-click selection between Self-Drive and certified executive chauffeurs with rating badges.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Dual-Mode </a:t>
            </a:r>
            <a:r>
              <a:rPr sz="1200" b="1" dirty="0" err="1">
                <a:solidFill>
                  <a:srgbClr val="0C2340"/>
                </a:solidFill>
                <a:latin typeface="Calibri"/>
              </a:rPr>
              <a:t>Razorpay</a:t>
            </a:r>
            <a:r>
              <a:rPr sz="1200" b="1" dirty="0">
                <a:solidFill>
                  <a:srgbClr val="0C2340"/>
                </a:solidFill>
                <a:latin typeface="Calibri"/>
              </a:rPr>
              <a:t> Payment: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Seamless checkout modal supporting Cards, UPI QR codes, </a:t>
            </a:r>
            <a:r>
              <a:rPr sz="1200" dirty="0" err="1">
                <a:solidFill>
                  <a:srgbClr val="282C34"/>
                </a:solidFill>
                <a:latin typeface="Calibri"/>
              </a:rPr>
              <a:t>Netbanking</a:t>
            </a:r>
            <a:r>
              <a:rPr sz="1200" dirty="0">
                <a:solidFill>
                  <a:srgbClr val="282C34"/>
                </a:solidFill>
                <a:latin typeface="Calibri"/>
              </a:rPr>
              <a:t>, and the 3D Secure Bank Simulator.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Customer Hub &amp; Digital Invoicing: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Inspect active/past bookings and download auto-generated, printable GST-compliant tax invoices.</a:t>
            </a:r>
          </a:p>
        </p:txBody>
      </p:sp>
      <p:sp>
        <p:nvSpPr>
          <p:cNvPr id="155" name="Google Shape;155;g3340c2eaaed_0_19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57" name="Google Shape;157;g3340c2eaaed_0_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40c2eaaed_0_2180"/>
          <p:cNvSpPr txBox="1">
            <a:spLocks noGrp="1"/>
          </p:cNvSpPr>
          <p:nvPr>
            <p:ph type="title"/>
          </p:nvPr>
        </p:nvSpPr>
        <p:spPr>
          <a:xfrm>
            <a:off x="2231100" y="-2"/>
            <a:ext cx="7729800" cy="965100"/>
          </a:xfrm>
          <a:prstGeom prst="rect">
            <a:avLst/>
          </a:prstGeom>
          <a:solidFill>
            <a:srgbClr val="FFFFFF"/>
          </a:solidFill>
          <a:ln w="31750" cap="sq" cmpd="sng">
            <a:solidFill>
              <a:srgbClr val="40404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182875" rIns="182875" bIns="182875" anchor="ctr" anchorCtr="0">
            <a:normAutofit fontScale="90000"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800" b="1">
                <a:solidFill>
                  <a:srgbClr val="0C2340"/>
                </a:solidFill>
                <a:latin typeface="Calibri"/>
              </a:defRPr>
            </a:pPr>
            <a:r>
              <a:rPr lang="en-GB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 USER OF THE SYSTEM</a:t>
            </a:r>
            <a:br>
              <a:rPr lang="en-GB" sz="1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 dirty="0">
              <a:solidFill>
                <a:srgbClr val="282C34"/>
              </a:solidFill>
              <a:latin typeface="Calibri"/>
            </a:endParaRPr>
          </a:p>
        </p:txBody>
      </p:sp>
      <p:sp>
        <p:nvSpPr>
          <p:cNvPr id="164" name="Google Shape;164;g3340c2eaaed_0_2180"/>
          <p:cNvSpPr txBox="1">
            <a:spLocks noGrp="1"/>
          </p:cNvSpPr>
          <p:nvPr>
            <p:ph type="body" idx="1"/>
          </p:nvPr>
        </p:nvSpPr>
        <p:spPr>
          <a:xfrm>
            <a:off x="2231100" y="2028450"/>
            <a:ext cx="8100300" cy="4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  <a:defRPr sz="1800" b="1">
                <a:solidFill>
                  <a:srgbClr val="0C2340"/>
                </a:solidFill>
                <a:latin typeface="Calibri"/>
              </a:defRPr>
            </a:pPr>
            <a:r>
              <a:rPr dirty="0"/>
              <a:t>4.3 SYSTEM WORKFLOW: VEHICLE RESERVATION &amp; PAYMENT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Step 1 - Vehicle Selection: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Customer browses fleet catalog and opens target luxury vehicle detail view.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Step 2 - Date &amp; Chauffeur Selection: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Customer selects rental start/return dates and chooses between Self-Drive or Chauffeur.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Step 3 - Mathematical Collision Checking: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System queries DB: (</a:t>
            </a:r>
            <a:r>
              <a:rPr sz="1100" dirty="0" err="1">
                <a:solidFill>
                  <a:srgbClr val="282C34"/>
                </a:solidFill>
                <a:latin typeface="Calibri"/>
              </a:rPr>
              <a:t>start_date</a:t>
            </a:r>
            <a:r>
              <a:rPr sz="1100" dirty="0">
                <a:solidFill>
                  <a:srgbClr val="282C34"/>
                </a:solidFill>
                <a:latin typeface="Calibri"/>
              </a:rPr>
              <a:t> &lt;= </a:t>
            </a:r>
            <a:r>
              <a:rPr sz="1100" dirty="0" err="1">
                <a:solidFill>
                  <a:srgbClr val="282C34"/>
                </a:solidFill>
                <a:latin typeface="Calibri"/>
              </a:rPr>
              <a:t>end_B</a:t>
            </a:r>
            <a:r>
              <a:rPr sz="1100" dirty="0">
                <a:solidFill>
                  <a:srgbClr val="282C34"/>
                </a:solidFill>
                <a:latin typeface="Calibri"/>
              </a:rPr>
              <a:t> and </a:t>
            </a:r>
            <a:r>
              <a:rPr sz="1100" dirty="0" err="1">
                <a:solidFill>
                  <a:srgbClr val="282C34"/>
                </a:solidFill>
                <a:latin typeface="Calibri"/>
              </a:rPr>
              <a:t>end_date</a:t>
            </a:r>
            <a:r>
              <a:rPr sz="1100" dirty="0">
                <a:solidFill>
                  <a:srgbClr val="282C34"/>
                </a:solidFill>
                <a:latin typeface="Calibri"/>
              </a:rPr>
              <a:t> &gt;= </a:t>
            </a:r>
            <a:r>
              <a:rPr sz="1100" dirty="0" err="1">
                <a:solidFill>
                  <a:srgbClr val="282C34"/>
                </a:solidFill>
                <a:latin typeface="Calibri"/>
              </a:rPr>
              <a:t>start_B</a:t>
            </a:r>
            <a:r>
              <a:rPr sz="1100" dirty="0">
                <a:solidFill>
                  <a:srgbClr val="282C34"/>
                </a:solidFill>
                <a:latin typeface="Calibri"/>
              </a:rPr>
              <a:t>). If conflict exists, booking is blocked with alert banner.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Step 4 - Dynamic Pricing Calculation: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Calculates duration in days and applies multi-day discount tier (10% for &gt;=3 days, 25% for &gt;=7 days).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Step 5 - Payment Execution: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Launches </a:t>
            </a:r>
            <a:r>
              <a:rPr sz="1100" dirty="0" err="1">
                <a:solidFill>
                  <a:srgbClr val="282C34"/>
                </a:solidFill>
                <a:latin typeface="Calibri"/>
              </a:rPr>
              <a:t>Razorpay</a:t>
            </a:r>
            <a:r>
              <a:rPr sz="1100" dirty="0">
                <a:solidFill>
                  <a:srgbClr val="282C34"/>
                </a:solidFill>
                <a:latin typeface="Calibri"/>
              </a:rPr>
              <a:t> checkout modal or Bank Simulator OTP dialog for dummy transaction approval.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Step 6 - Atomic Database Commit: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Upon payment approval, Django commits Booking (CONFIRMED) and Payment (SUCCESS) records atomically.</a:t>
            </a:r>
          </a:p>
          <a:p>
            <a:pPr>
              <a:spcAft>
                <a:spcPts val="600"/>
              </a:spcAft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Step 7 - Invoice &amp; Receipt Generation: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Customer receives booking reference (AD-XXXXXXXX) and printable tax invoice.</a:t>
            </a:r>
          </a:p>
        </p:txBody>
      </p:sp>
      <p:sp>
        <p:nvSpPr>
          <p:cNvPr id="165" name="Google Shape;165;g3340c2eaaed_0_218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67" name="Google Shape;167;g3340c2eaaed_0_21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40c2eaaed_0_488"/>
          <p:cNvSpPr txBox="1">
            <a:spLocks noGrp="1"/>
          </p:cNvSpPr>
          <p:nvPr>
            <p:ph type="ctrTitle"/>
          </p:nvPr>
        </p:nvSpPr>
        <p:spPr>
          <a:xfrm>
            <a:off x="1016000" y="152403"/>
            <a:ext cx="10363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 b="1" u="sng">
                <a:latin typeface="Times New Roman"/>
                <a:ea typeface="Times New Roman"/>
                <a:cs typeface="Times New Roman"/>
                <a:sym typeface="Times New Roman"/>
              </a:rPr>
              <a:t>5. SYSTEM REQUIREMENT</a:t>
            </a:r>
            <a:endParaRPr/>
          </a:p>
        </p:txBody>
      </p:sp>
      <p:sp>
        <p:nvSpPr>
          <p:cNvPr id="173" name="Google Shape;173;g3340c2eaaed_0_488"/>
          <p:cNvSpPr/>
          <p:nvPr/>
        </p:nvSpPr>
        <p:spPr>
          <a:xfrm>
            <a:off x="406400" y="841919"/>
            <a:ext cx="1137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5.1 MINIMUM SOFTWARE REQUIREMENT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74" name="Google Shape;174;g3340c2eaaed_0_488"/>
          <p:cNvGraphicFramePr/>
          <p:nvPr/>
        </p:nvGraphicFramePr>
        <p:xfrm>
          <a:off x="812800" y="1676400"/>
          <a:ext cx="10566400" cy="1854250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52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Server-Side Software Layer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 &amp; Purpose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Operating System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Microsoft Windows Server 2022 / Ubuntu Linux 22.04 LTS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Backend Runtime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Python 3.12 / 3.14 (PEP 8 Compliant, Type Hinted)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Web Framework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Django 5.x Web Framework (MVT Architecture &amp; ORM)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Database Management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SQLite 3.45 (Dev) / PostgreSQL 16 (Production Relational)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5" name="Google Shape;175;g3340c2eaaed_0_488"/>
          <p:cNvGraphicFramePr/>
          <p:nvPr/>
        </p:nvGraphicFramePr>
        <p:xfrm>
          <a:off x="812800" y="4267200"/>
          <a:ext cx="10566400" cy="1112550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5221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 gridSpan="2"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Client-Side Software Layer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Specification &amp; Purpose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Web Browsers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Google Chrome, Microsoft Edge, Mozilla Firefox, Safari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Payment SDK &amp; Libraries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Razorpay Checkout.js v1, Bootstrap 5.3.3, FontAwesome Pro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6" name="Google Shape;176;g3340c2eaaed_0_48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177" name="Google Shape;177;g3340c2eaaed_0_4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340c2eaaed_0_570"/>
          <p:cNvSpPr txBox="1">
            <a:spLocks noGrp="1"/>
          </p:cNvSpPr>
          <p:nvPr>
            <p:ph type="ctrTitle"/>
          </p:nvPr>
        </p:nvSpPr>
        <p:spPr>
          <a:xfrm>
            <a:off x="1016000" y="152403"/>
            <a:ext cx="103632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IN" sz="2000" b="1" u="sng">
                <a:latin typeface="Times New Roman"/>
                <a:ea typeface="Times New Roman"/>
                <a:cs typeface="Times New Roman"/>
                <a:sym typeface="Times New Roman"/>
              </a:rPr>
              <a:t>5. SYSTEM REQUIREMENT</a:t>
            </a:r>
            <a:endParaRPr/>
          </a:p>
        </p:txBody>
      </p:sp>
      <p:graphicFrame>
        <p:nvGraphicFramePr>
          <p:cNvPr id="183" name="Google Shape;183;g3340c2eaaed_0_570"/>
          <p:cNvGraphicFramePr/>
          <p:nvPr/>
        </p:nvGraphicFramePr>
        <p:xfrm>
          <a:off x="812800" y="1676400"/>
          <a:ext cx="10566400" cy="1752600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522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 gridSpan="2"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Server Hardware Component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Minimum Requirement (Cloud / Local Server)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Processor (CPU)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Intel Core i5 / Intel Xeon Quad-Core @ 2.5 GHz or higher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System Memory (RAM)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8 GB DDR4 RAM or higher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Storage (Disk)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20 GB NVMe / SSD Available Space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84" name="Google Shape;184;g3340c2eaaed_0_570"/>
          <p:cNvGraphicFramePr/>
          <p:nvPr/>
        </p:nvGraphicFramePr>
        <p:xfrm>
          <a:off x="812800" y="4038600"/>
          <a:ext cx="10566400" cy="1828800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528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 gridSpan="2"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 Hardware Component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Minimum Client Device Specification</a:t>
                      </a:r>
                    </a:p>
                  </a:txBody>
                  <a:tcPr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Processor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Any Dual-Core 1.5 GHz or Modern Smartphone SoC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System Memory (RAM)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2 GB RAM or higher</a:t>
                      </a:r>
                    </a:p>
                  </a:txBody>
                  <a:tcPr marL="91450" marR="91450" marT="45725" marB="457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Display Resolution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1366 x 768 Desktop or 360px+ Mobile Viewport</a:t>
                      </a:r>
                    </a:p>
                  </a:txBody>
                  <a:tcPr marL="91450" marR="91450" marT="45725" marB="45725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5" name="Google Shape;185;g3340c2eaaed_0_570"/>
          <p:cNvSpPr/>
          <p:nvPr/>
        </p:nvSpPr>
        <p:spPr>
          <a:xfrm>
            <a:off x="406400" y="841919"/>
            <a:ext cx="11379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5.2 MINIMUM HARDWARE REQUIREMENT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3340c2eaaed_0_57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187" name="Google Shape;187;g3340c2eaaed_0_5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40c2eaaed_0_1828"/>
          <p:cNvSpPr txBox="1">
            <a:spLocks noGrp="1"/>
          </p:cNvSpPr>
          <p:nvPr>
            <p:ph type="subTitle" idx="1"/>
          </p:nvPr>
        </p:nvSpPr>
        <p:spPr>
          <a:xfrm>
            <a:off x="609600" y="348181"/>
            <a:ext cx="68016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1">
                <a:solidFill>
                  <a:srgbClr val="0C2340"/>
                </a:solidFill>
              </a:defRPr>
            </a:pPr>
            <a:r>
              <a:t>6. SYSTEM ARCHITECTURE (DJANGO MVT PATTERN)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sp>
        <p:nvSpPr>
          <p:cNvPr id="194" name="Google Shape;194;g3340c2eaaed_0_182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pic>
        <p:nvPicPr>
          <p:cNvPr id="195" name="Google Shape;195;g3340c2eaaed_0_18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Picture 195" descr="system_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043" y="624789"/>
            <a:ext cx="6902458" cy="620557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340c2eaaed_0_1500"/>
          <p:cNvSpPr txBox="1">
            <a:spLocks noGrp="1"/>
          </p:cNvSpPr>
          <p:nvPr>
            <p:ph type="subTitle" idx="1"/>
          </p:nvPr>
        </p:nvSpPr>
        <p:spPr>
          <a:xfrm>
            <a:off x="609600" y="348181"/>
            <a:ext cx="68016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800" b="1">
                <a:solidFill>
                  <a:srgbClr val="0C2340"/>
                </a:solidFill>
              </a:defRPr>
            </a:pPr>
            <a:r>
              <a:t>7. ENTITY-RELATIONSHIP (ER) DIAGRAM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340c2eaaed_0_1500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203" name="Google Shape;203;g3340c2eaaed_0_15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Picture 203" descr="er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7733" y="603351"/>
            <a:ext cx="2496576" cy="57966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40c2eaaed_0_921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211" name="Google Shape;211;g3340c2eaaed_0_9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TextBox 211"/>
          <p:cNvSpPr txBox="1"/>
          <p:nvPr/>
        </p:nvSpPr>
        <p:spPr>
          <a:xfrm>
            <a:off x="731520" y="914400"/>
            <a:ext cx="106984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C2340"/>
                </a:solidFill>
                <a:latin typeface="Calibri"/>
              </a:defRPr>
            </a:pPr>
            <a:r>
              <a:t>7.1 RELATIONAL DATABASE ARCHITECTURE &amp; CARDINALITIES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C2340"/>
                </a:solidFill>
                <a:latin typeface="Calibri"/>
              </a:rPr>
              <a:t>Category to Car (1:M): </a:t>
            </a:r>
            <a:r>
              <a:rPr sz="1300">
                <a:solidFill>
                  <a:srgbClr val="282C34"/>
                </a:solidFill>
                <a:latin typeface="Calibri"/>
              </a:rPr>
              <a:t>One category (e.g. Electric Supercars) contains multiple luxury vehicles in the fleet catalog.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C2340"/>
                </a:solidFill>
                <a:latin typeface="Calibri"/>
              </a:rPr>
              <a:t>Car to Booking (1:M): </a:t>
            </a:r>
            <a:r>
              <a:rPr sz="1300">
                <a:solidFill>
                  <a:srgbClr val="282C34"/>
                </a:solidFill>
                <a:latin typeface="Calibri"/>
              </a:rPr>
              <a:t>One vehicle participates in multiple reservations, strictly enforced to be non-overlapping across date intervals.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C2340"/>
                </a:solidFill>
                <a:latin typeface="Calibri"/>
              </a:rPr>
              <a:t>User to Booking (1:M): </a:t>
            </a:r>
            <a:r>
              <a:rPr sz="1300">
                <a:solidFill>
                  <a:srgbClr val="282C34"/>
                </a:solidFill>
                <a:latin typeface="Calibri"/>
              </a:rPr>
              <a:t>One registered customer can reserve multiple vehicles across different calendar dates.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C2340"/>
                </a:solidFill>
                <a:latin typeface="Calibri"/>
              </a:rPr>
              <a:t>Driver to Booking (1:M, Nullable): </a:t>
            </a:r>
            <a:r>
              <a:rPr sz="1300">
                <a:solidFill>
                  <a:srgbClr val="282C34"/>
                </a:solidFill>
                <a:latin typeface="Calibri"/>
              </a:rPr>
              <a:t>A certified chauffeur is assigned to non-overlapping bookings when drive_mode='chauffeur'.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C2340"/>
                </a:solidFill>
                <a:latin typeface="Calibri"/>
              </a:rPr>
              <a:t>Booking to Payment (1:1): </a:t>
            </a:r>
            <a:r>
              <a:rPr sz="1300">
                <a:solidFill>
                  <a:srgbClr val="282C34"/>
                </a:solidFill>
                <a:latin typeface="Calibri"/>
              </a:rPr>
              <a:t>Each confirmed reservation maps to exactly one verified financial transaction record in tbl_payment.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C2340"/>
                </a:solidFill>
                <a:latin typeface="Calibri"/>
              </a:rPr>
              <a:t>Car to Review (1:M): </a:t>
            </a:r>
            <a:r>
              <a:rPr sz="1300">
                <a:solidFill>
                  <a:srgbClr val="282C34"/>
                </a:solidFill>
                <a:latin typeface="Calibri"/>
              </a:rPr>
              <a:t>Customers submit ratings (1 to 5 stars) and feedback reviews for verified rental experiences.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0C2340"/>
                </a:solidFill>
                <a:latin typeface="Calibri"/>
              </a:rPr>
              <a:t>Referential Integrity: </a:t>
            </a:r>
            <a:r>
              <a:rPr sz="1300">
                <a:solidFill>
                  <a:srgbClr val="282C34"/>
                </a:solidFill>
                <a:latin typeface="Calibri"/>
              </a:rPr>
              <a:t>Foreign keys enforce ON DELETE CASCADE / PROTECT to guarantee ACID transactional consistency.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346804e54d_0_16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218" name="Google Shape;218;g3346804e54d_0_16"/>
          <p:cNvSpPr txBox="1"/>
          <p:nvPr/>
        </p:nvSpPr>
        <p:spPr>
          <a:xfrm>
            <a:off x="609600" y="348181"/>
            <a:ext cx="49143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1800" b="1">
                <a:solidFill>
                  <a:srgbClr val="0C2340"/>
                </a:solidFill>
              </a:defRPr>
            </a:pPr>
            <a:r>
              <a:t>8. DATA FLOW DIAGRAMS (DFD)</a:t>
            </a:r>
            <a:endParaRPr sz="2500" b="1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9" name="Google Shape;219;g3346804e54d_0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76200"/>
            <a:ext cx="1990726" cy="55811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TextBox 219"/>
          <p:cNvSpPr txBox="1"/>
          <p:nvPr/>
        </p:nvSpPr>
        <p:spPr>
          <a:xfrm>
            <a:off x="731520" y="1097280"/>
            <a:ext cx="10698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C2340"/>
                </a:solidFill>
                <a:latin typeface="Calibri"/>
              </a:defRPr>
            </a:pPr>
            <a:r>
              <a:t>DATA FLOW MODELING OVERVIEW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C2340"/>
                </a:solidFill>
                <a:latin typeface="Calibri"/>
              </a:rPr>
              <a:t>Context Diagram (Level 0): </a:t>
            </a:r>
            <a:r>
              <a:rPr sz="1400">
                <a:solidFill>
                  <a:srgbClr val="282C34"/>
                </a:solidFill>
                <a:latin typeface="Calibri"/>
              </a:rPr>
              <a:t>Illustrates external entities (Customer, Fleet Admin, Razorpay Gateway) and primary data flows.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C2340"/>
                </a:solidFill>
                <a:latin typeface="Calibri"/>
              </a:rPr>
              <a:t>Decomposition Diagram (Level 1): </a:t>
            </a:r>
            <a:r>
              <a:rPr sz="1400">
                <a:solidFill>
                  <a:srgbClr val="282C34"/>
                </a:solidFill>
                <a:latin typeface="Calibri"/>
              </a:rPr>
              <a:t>Decomposes the platform into 5 modular subsystems (Auth, Search, Conflict Engine, Payment, Admin).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C2340"/>
                </a:solidFill>
                <a:latin typeface="Calibri"/>
              </a:rPr>
              <a:t>Process Logic &amp; Data Stores: </a:t>
            </a:r>
            <a:r>
              <a:rPr sz="1400">
                <a:solidFill>
                  <a:srgbClr val="282C34"/>
                </a:solidFill>
                <a:latin typeface="Calibri"/>
              </a:rPr>
              <a:t>Traces state transitions between temporary HTTP sessions and persistent database tables.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C2340"/>
                </a:solidFill>
                <a:latin typeface="Calibri"/>
              </a:rPr>
              <a:t>Mathematical Slot Validation: </a:t>
            </a:r>
            <a:r>
              <a:rPr sz="1400">
                <a:solidFill>
                  <a:srgbClr val="282C34"/>
                </a:solidFill>
                <a:latin typeface="Calibri"/>
              </a:rPr>
              <a:t>Depicts real-time collision prevention queries intercepting overlapping rental attempts.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346804e54d_0_22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226" name="Google Shape;226;g3346804e54d_0_22"/>
          <p:cNvSpPr txBox="1"/>
          <p:nvPr/>
        </p:nvSpPr>
        <p:spPr>
          <a:xfrm>
            <a:off x="2930425" y="240825"/>
            <a:ext cx="52572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  <a:defRPr sz="2000" b="1">
                <a:solidFill>
                  <a:srgbClr val="0C2340"/>
                </a:solidFill>
              </a:defRPr>
            </a:pPr>
            <a:r>
              <a:t>8.1 DFD LEVEL 0: CONTEXT DIAGRAM</a:t>
            </a:r>
            <a:endParaRPr sz="2500" b="1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8" name="Google Shape;228;g3346804e54d_0_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Picture 228" descr="dfd_level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4427"/>
            <a:ext cx="12011384" cy="27213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346804e54d_0_28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235" name="Google Shape;235;g3346804e54d_0_28"/>
          <p:cNvSpPr txBox="1"/>
          <p:nvPr/>
        </p:nvSpPr>
        <p:spPr>
          <a:xfrm>
            <a:off x="152400" y="152400"/>
            <a:ext cx="9948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000" b="1">
                <a:solidFill>
                  <a:srgbClr val="0C2340"/>
                </a:solidFill>
              </a:defRPr>
            </a:pPr>
            <a:r>
              <a:t>8.2 DFD LEVEL 1: SUBSYSTEM DECOMPOSITION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346804e54d_0_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TextBox 237"/>
          <p:cNvSpPr txBox="1"/>
          <p:nvPr/>
        </p:nvSpPr>
        <p:spPr>
          <a:xfrm>
            <a:off x="731520" y="10972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C2340"/>
                </a:solidFill>
                <a:latin typeface="Calibri"/>
              </a:defRPr>
            </a:pPr>
            <a:r>
              <a:t>SUBSYSTEM PROCESS SPECIFICATION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Process 1.0 - User Authentication &amp; Session Security: </a:t>
            </a:r>
            <a:r>
              <a:rPr sz="1200">
                <a:solidFill>
                  <a:srgbClr val="282C34"/>
                </a:solidFill>
                <a:latin typeface="Calibri"/>
              </a:rPr>
              <a:t>Validates customer/staff credentials against auth_user, enforces session cookies and PBKDF2 hashing.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Process 2.0 - Fleet Catalog Search &amp; Multi-Facet Filtering: </a:t>
            </a:r>
            <a:r>
              <a:rPr sz="1200">
                <a:solidFill>
                  <a:srgbClr val="282C34"/>
                </a:solidFill>
                <a:latin typeface="Calibri"/>
              </a:rPr>
              <a:t>Queries tbl_car and tbl_category based on category slug, transmission type, fuel type, and keywords.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Process 3.0 - Real-Time Slot Collision &amp; Dynamic Pricing Engine: </a:t>
            </a:r>
            <a:r>
              <a:rPr sz="1200">
                <a:solidFill>
                  <a:srgbClr val="282C34"/>
                </a:solidFill>
                <a:latin typeface="Calibri"/>
              </a:rPr>
              <a:t>Executes interval validation against tbl_booking and applies multi-day discount formulas (10% &amp; 25%).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Process 4.0 - Dual-Mode Razorpay Gateway &amp; Bank Simulator: </a:t>
            </a:r>
            <a:r>
              <a:rPr sz="1200">
                <a:solidFill>
                  <a:srgbClr val="282C34"/>
                </a:solidFill>
                <a:latin typeface="Calibri"/>
              </a:rPr>
              <a:t>Exchanges tokens with Razorpay Checkout.js or launches the 3D Secure Bank Simulator, writing verified records to tbl_payment.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Process 5.0 - Administrative Fleet Operations &amp; Intelligence: </a:t>
            </a:r>
            <a:r>
              <a:rPr sz="1200">
                <a:solidFill>
                  <a:srgbClr val="282C34"/>
                </a:solidFill>
                <a:latin typeface="Calibri"/>
              </a:rPr>
              <a:t>Provides fleet CRUD controls, booking lifecycle updates, chauffeur assignment, and aggregated revenue analytics.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346804e54d_0_4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244" name="Google Shape;244;g3346804e54d_0_49"/>
          <p:cNvSpPr txBox="1"/>
          <p:nvPr/>
        </p:nvSpPr>
        <p:spPr>
          <a:xfrm>
            <a:off x="0" y="0"/>
            <a:ext cx="101412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>
                <a:solidFill>
                  <a:srgbClr val="0C2340"/>
                </a:solidFill>
              </a:defRPr>
            </a:pPr>
            <a:r>
              <a:t>8.3 DATA FLOW CHART: CUSTOMER RESERVATION PROCESS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g3346804e54d_0_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TextBox 246"/>
          <p:cNvSpPr txBox="1"/>
          <p:nvPr/>
        </p:nvSpPr>
        <p:spPr>
          <a:xfrm>
            <a:off x="731520" y="10972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C2340"/>
                </a:solidFill>
                <a:latin typeface="Calibri"/>
              </a:defRPr>
            </a:pPr>
            <a:r>
              <a:t>END-TO-END CUSTOMER RESERVATION FLOW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Step 1 - Catalog Exploration: </a:t>
            </a:r>
            <a:r>
              <a:rPr sz="1200">
                <a:solidFill>
                  <a:srgbClr val="282C34"/>
                </a:solidFill>
                <a:latin typeface="Calibri"/>
              </a:rPr>
              <a:t>Customer enters portal -&gt; Filter by category, transmission, horsepower -&gt; Select target vehicle.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Step 2 - Date Interval Selection: </a:t>
            </a:r>
            <a:r>
              <a:rPr sz="1200">
                <a:solidFill>
                  <a:srgbClr val="282C34"/>
                </a:solidFill>
                <a:latin typeface="Calibri"/>
              </a:rPr>
              <a:t>Customer picks start date &amp; end date -&gt; System computes rental duration in days.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Step 3 - Algorithmic Conflict Verification: </a:t>
            </a:r>
            <a:r>
              <a:rPr sz="1200">
                <a:solidFill>
                  <a:srgbClr val="282C34"/>
                </a:solidFill>
                <a:latin typeface="Calibri"/>
              </a:rPr>
              <a:t>System executes is_available_between(start_date, end_date) -&gt; Returns True (Proceed) or False (Block with error alert).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Step 4 - Dynamic Pricing Calculation: </a:t>
            </a:r>
            <a:r>
              <a:rPr sz="1200">
                <a:solidFill>
                  <a:srgbClr val="282C34"/>
                </a:solidFill>
                <a:latin typeface="Calibri"/>
              </a:rPr>
              <a:t>Subtotal = daily_rate * days -&gt; Applies 10% discount (&gt;=3 days) or 25% discount (&gt;=7 days) -&gt; Adds chauffeur fee if chosen.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Step 5 - Payment Handshake: </a:t>
            </a:r>
            <a:r>
              <a:rPr sz="1200">
                <a:solidFill>
                  <a:srgbClr val="282C34"/>
                </a:solidFill>
                <a:latin typeface="Calibri"/>
              </a:rPr>
              <a:t>Proceed to payment -&gt; Razorpay modal / 3D Secure Simulator -&gt; Customer approves dummy OTP -&gt; HTTP 200 Handshake.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Step 6 - Transaction Finalization: </a:t>
            </a:r>
            <a:r>
              <a:rPr sz="1200">
                <a:solidFill>
                  <a:srgbClr val="282C34"/>
                </a:solidFill>
                <a:latin typeface="Calibri"/>
              </a:rPr>
              <a:t>Atomic database commit: Booking status -&gt; CONFIRMED, Payment status -&gt; PAID -&gt; Redirect to digital tax invoice.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346804e54d_0_4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253" name="Google Shape;253;g3346804e54d_0_44"/>
          <p:cNvSpPr txBox="1"/>
          <p:nvPr/>
        </p:nvSpPr>
        <p:spPr>
          <a:xfrm>
            <a:off x="0" y="0"/>
            <a:ext cx="1014120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>
                <a:solidFill>
                  <a:srgbClr val="0C2340"/>
                </a:solidFill>
              </a:defRPr>
            </a:pPr>
            <a:r>
              <a:t>8.4 DATA FLOW CHART: FLEET OPERATIONS &amp; CHAUFFEUR DISPATCH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g3346804e54d_0_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TextBox 255"/>
          <p:cNvSpPr txBox="1"/>
          <p:nvPr/>
        </p:nvSpPr>
        <p:spPr>
          <a:xfrm>
            <a:off x="731520" y="1097280"/>
            <a:ext cx="106984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C2340"/>
                </a:solidFill>
                <a:latin typeface="Calibri"/>
              </a:defRPr>
            </a:pPr>
            <a:r>
              <a:t>ADMINISTRATIVE OPERATIONS WORKFLOW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Fleet Inventory CRUD: </a:t>
            </a:r>
            <a:r>
              <a:rPr sz="1200">
                <a:solidFill>
                  <a:srgbClr val="282C34"/>
                </a:solidFill>
                <a:latin typeface="Calibri"/>
              </a:rPr>
              <a:t>Admin logs into Dashboard -&gt; Enters vehicle details (make, model, daily rate, specs, photo) -&gt; Commits new vehicle to tbl_car.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Certified Chauffeur Registration: </a:t>
            </a:r>
            <a:r>
              <a:rPr sz="1200">
                <a:solidFill>
                  <a:srgbClr val="282C34"/>
                </a:solidFill>
                <a:latin typeface="Calibri"/>
              </a:rPr>
              <a:t>Input chauffeur name, commercial license, contact, experience years, rating, and daily fee into tbl_driver.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Booking Lifecycle Management: </a:t>
            </a:r>
            <a:r>
              <a:rPr sz="1200">
                <a:solidFill>
                  <a:srgbClr val="282C34"/>
                </a:solidFill>
                <a:latin typeface="Calibri"/>
              </a:rPr>
              <a:t>Inspect incoming reservations -&gt; Update status to COMPLETED upon return, or CANCELLED if requested.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Real-Time Conflict Oversight: </a:t>
            </a:r>
            <a:r>
              <a:rPr sz="1200">
                <a:solidFill>
                  <a:srgbClr val="282C34"/>
                </a:solidFill>
                <a:latin typeface="Calibri"/>
              </a:rPr>
              <a:t>Inspect calendar dispatches to ensure drivers and cars operate on non-overlapping schedules.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Executive Revenue Intelligence: </a:t>
            </a:r>
            <a:r>
              <a:rPr sz="1200">
                <a:solidFill>
                  <a:srgbClr val="282C34"/>
                </a:solidFill>
                <a:latin typeface="Calibri"/>
              </a:rPr>
              <a:t>Auto-aggregate total revenue = SUM(total_price) across CONFIRMED and COMPLETED bookings.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Fleet Utilization Rate: </a:t>
            </a:r>
            <a:r>
              <a:rPr sz="1200">
                <a:solidFill>
                  <a:srgbClr val="282C34"/>
                </a:solidFill>
                <a:latin typeface="Calibri"/>
              </a:rPr>
              <a:t>Compute active deployed vehicles / total fleet size to evaluate real-time return on investment (ROI).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262" name="Google Shape;262;p3"/>
          <p:cNvSpPr txBox="1"/>
          <p:nvPr/>
        </p:nvSpPr>
        <p:spPr>
          <a:xfrm>
            <a:off x="477215" y="136479"/>
            <a:ext cx="10141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000" b="1">
                <a:solidFill>
                  <a:srgbClr val="0C2340"/>
                </a:solidFill>
              </a:defRPr>
            </a:pPr>
            <a:r>
              <a:t>8.5 UML SEQUENCE DIAGRAM (RESERVATION &amp; PAYMENT)</a:t>
            </a:r>
            <a:endParaRPr sz="3600" b="1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1" name="Google Shape;29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Picture 291" descr="sequenc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136" y="1150000"/>
            <a:ext cx="9045727" cy="510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298" name="Google Shape;298;p4"/>
          <p:cNvSpPr txBox="1"/>
          <p:nvPr/>
        </p:nvSpPr>
        <p:spPr>
          <a:xfrm>
            <a:off x="477215" y="136479"/>
            <a:ext cx="10141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000" b="1">
                <a:solidFill>
                  <a:srgbClr val="0C2340"/>
                </a:solidFill>
              </a:defRPr>
            </a:pPr>
            <a:r>
              <a:t>8.6 UML USE CASE SPECIFICATION (ROLE RESPONSIBILITIES)</a:t>
            </a:r>
            <a:endParaRPr sz="3600" b="1" i="0" u="sng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9" name="Google Shape;319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TextBox 319"/>
          <p:cNvSpPr txBox="1"/>
          <p:nvPr/>
        </p:nvSpPr>
        <p:spPr>
          <a:xfrm>
            <a:off x="650450" y="1913357"/>
            <a:ext cx="10906812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C2340"/>
                </a:solidFill>
                <a:latin typeface="Calibri"/>
              </a:defRPr>
            </a:pPr>
            <a:r>
              <a:rPr dirty="0"/>
              <a:t>SYSTEM USE CASE ROLES &amp; SCOPE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Customer Use Cases: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Browse Fleet Catalog, Search &amp; Filter Vehicles, Compare Vehicle Specifications, Select Date Interval, Choose Self-Drive or Chauffeur, Simulate / Execute </a:t>
            </a:r>
            <a:r>
              <a:rPr sz="1200" dirty="0" err="1">
                <a:solidFill>
                  <a:srgbClr val="282C34"/>
                </a:solidFill>
                <a:latin typeface="Calibri"/>
              </a:rPr>
              <a:t>Razorpay</a:t>
            </a:r>
            <a:r>
              <a:rPr sz="1200" dirty="0">
                <a:solidFill>
                  <a:srgbClr val="282C34"/>
                </a:solidFill>
                <a:latin typeface="Calibri"/>
              </a:rPr>
              <a:t> Payment, View Booking History, Download Tax Receipts, Submit Vehicle Reviews.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Certified Chauffeur Use Cases: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View Active Dispatches, Verify Customer Commercial Credentials, Track Upcoming Assigned Bookings, Log Completed Trips.</a:t>
            </a:r>
          </a:p>
          <a:p>
            <a:pPr algn="just"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Fleet Administrator Use Cases: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Manage Fleet Inventory (Create, Read, Update, Delete vehicles), Configure Rental Categories, Register &amp; Dispatch Chauffeurs, Inspect Revenue Analytics, Update Reservation Lifecycle, Manage System Security &amp; Permissions.</a:t>
            </a:r>
          </a:p>
          <a:p>
            <a:pPr>
              <a:spcAft>
                <a:spcPts val="600"/>
              </a:spcAft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External Payment Gateway (</a:t>
            </a:r>
            <a:r>
              <a:rPr sz="1200" b="1" dirty="0" err="1">
                <a:solidFill>
                  <a:srgbClr val="0C2340"/>
                </a:solidFill>
                <a:latin typeface="Calibri"/>
              </a:rPr>
              <a:t>Razorpay</a:t>
            </a:r>
            <a:r>
              <a:rPr sz="1200" b="1" dirty="0">
                <a:solidFill>
                  <a:srgbClr val="0C2340"/>
                </a:solidFill>
                <a:latin typeface="Calibri"/>
              </a:rPr>
              <a:t>):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Tokenize payment requests, process simulated 3D Secure OTPs, return cryptographic payment IDs and authorization status.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346804e54d_0_39"/>
          <p:cNvSpPr>
            <a:spLocks noGrp="1"/>
          </p:cNvSpPr>
          <p:nvPr>
            <p:ph type="sldNum" idx="12"/>
          </p:nvPr>
        </p:nvSpPr>
        <p:spPr>
          <a:xfrm>
            <a:off x="10758922" y="6217920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326" name="Google Shape;326;g3346804e54d_0_39"/>
          <p:cNvSpPr txBox="1"/>
          <p:nvPr/>
        </p:nvSpPr>
        <p:spPr>
          <a:xfrm>
            <a:off x="0" y="0"/>
            <a:ext cx="10304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1">
                <a:solidFill>
                  <a:srgbClr val="0C2340"/>
                </a:solidFill>
              </a:defRPr>
            </a:pPr>
            <a:r>
              <a:t>9. DATA DICTIONARY (DATABASE SCHEMA)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346804e54d_0_39"/>
          <p:cNvSpPr txBox="1"/>
          <p:nvPr/>
        </p:nvSpPr>
        <p:spPr>
          <a:xfrm>
            <a:off x="437300" y="9867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IN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346804e54d_0_39"/>
          <p:cNvSpPr txBox="1"/>
          <p:nvPr/>
        </p:nvSpPr>
        <p:spPr>
          <a:xfrm>
            <a:off x="884850" y="1610602"/>
            <a:ext cx="8534400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600"/>
              <a:buFont typeface="Calibri"/>
              <a:buAutoNum type="arabicParenR"/>
              <a:defRPr sz="1600" b="1">
                <a:solidFill>
                  <a:srgbClr val="0C2340"/>
                </a:solidFill>
                <a:latin typeface="Calibri"/>
              </a:defRPr>
            </a:pPr>
            <a:r>
              <a:t>RELATIONAL DATABASE TABLES OVERVIEW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tbl_category: </a:t>
            </a:r>
            <a:r>
              <a:rPr sz="1200">
                <a:solidFill>
                  <a:srgbClr val="282C34"/>
                </a:solidFill>
                <a:latin typeface="Calibri"/>
              </a:rPr>
              <a:t>Stores vehicle classifications (Electric Supercars, Sedans, Bikes, VIP Vans, SUVs) with FontAwesome icons and URL slugs.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tbl_car: </a:t>
            </a:r>
            <a:r>
              <a:rPr sz="1200">
                <a:solidFill>
                  <a:srgbClr val="282C34"/>
                </a:solidFill>
                <a:latin typeface="Calibri"/>
              </a:rPr>
              <a:t>Main fleet inventory containing vehicle specifications, rates, transmission, fuel, seating, and media paths.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tbl_driver: </a:t>
            </a:r>
            <a:r>
              <a:rPr sz="1200">
                <a:solidFill>
                  <a:srgbClr val="282C34"/>
                </a:solidFill>
                <a:latin typeface="Calibri"/>
              </a:rPr>
              <a:t>Certified chauffeur credentials, commercial license IDs, experience years, customer ratings, and daily surcharges.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tbl_booking: </a:t>
            </a:r>
            <a:r>
              <a:rPr sz="1200">
                <a:solidFill>
                  <a:srgbClr val="282C34"/>
                </a:solidFill>
                <a:latin typeface="Calibri"/>
              </a:rPr>
              <a:t>Reservation ledger storing customer foreign key, start/end dates, duration, discounts, chauffeur fee, and statuses.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tbl_payment: </a:t>
            </a:r>
            <a:r>
              <a:rPr sz="1200">
                <a:solidFill>
                  <a:srgbClr val="282C34"/>
                </a:solidFill>
                <a:latin typeface="Calibri"/>
              </a:rPr>
              <a:t>Financial transaction ledger recording 1:1 payment audit records, transaction IDs, payment methods, and timestamps.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0C2340"/>
                </a:solidFill>
                <a:latin typeface="Calibri"/>
              </a:rPr>
              <a:t>tbl_review: </a:t>
            </a:r>
            <a:r>
              <a:rPr sz="1200">
                <a:solidFill>
                  <a:srgbClr val="282C34"/>
                </a:solidFill>
                <a:latin typeface="Calibri"/>
              </a:rPr>
              <a:t>Customer feedback repository linking verified users to vehicles with numeric ratings and commentary.</a:t>
            </a:r>
          </a:p>
        </p:txBody>
      </p:sp>
      <p:pic>
        <p:nvPicPr>
          <p:cNvPr id="329" name="Google Shape;329;g3346804e54d_0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346804e54d_0_76"/>
          <p:cNvSpPr txBox="1"/>
          <p:nvPr/>
        </p:nvSpPr>
        <p:spPr>
          <a:xfrm>
            <a:off x="304800" y="228600"/>
            <a:ext cx="1158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</a:t>
            </a:r>
            <a:endParaRPr sz="1400" b="0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3346804e54d_0_76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sp>
        <p:nvSpPr>
          <p:cNvPr id="336" name="Google Shape;336;g3346804e54d_0_76"/>
          <p:cNvSpPr/>
          <p:nvPr/>
        </p:nvSpPr>
        <p:spPr>
          <a:xfrm>
            <a:off x="457200" y="628800"/>
            <a:ext cx="165686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tbl_category (Category Classification)</a:t>
            </a:r>
          </a:p>
        </p:txBody>
      </p:sp>
      <p:graphicFrame>
        <p:nvGraphicFramePr>
          <p:cNvPr id="337" name="Google Shape;337;g3346804e54d_0_76"/>
          <p:cNvGraphicFramePr/>
          <p:nvPr/>
        </p:nvGraphicFramePr>
        <p:xfrm>
          <a:off x="512445" y="1312218"/>
          <a:ext cx="5583575" cy="145352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{58FBF52A-729C-4566-B371-E38BB0ACAC22}</a:tableStyleId>
              </a:tblPr>
              <a:tblGrid>
                <a:gridCol w="141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49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 Name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Types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Constraints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2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PK, Auto Increment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Unique category identifier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0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Varchar(100)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NULL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Category title (e.g. Electric Supercars)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0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slug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Varchar(100)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UNIQUE, Indexed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URL-friendly slug for routing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2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icon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Varchar(50)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DEFAULT 'fa-car'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FontAwesome icon CSS class identifier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" name="Google Shape;338;g3346804e54d_0_76"/>
          <p:cNvSpPr/>
          <p:nvPr/>
        </p:nvSpPr>
        <p:spPr>
          <a:xfrm>
            <a:off x="5289162" y="3388834"/>
            <a:ext cx="141417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tbl_car (Fleet Vehicle Inventory)</a:t>
            </a:r>
          </a:p>
        </p:txBody>
      </p:sp>
      <p:graphicFrame>
        <p:nvGraphicFramePr>
          <p:cNvPr id="339" name="Google Shape;339;g3346804e54d_0_76"/>
          <p:cNvGraphicFramePr/>
          <p:nvPr/>
        </p:nvGraphicFramePr>
        <p:xfrm>
          <a:off x="3050274" y="4436743"/>
          <a:ext cx="5638800" cy="1704750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{58FBF52A-729C-4566-B371-E38BB0ACAC22}</a:tableStyleId>
              </a:tblPr>
              <a:tblGrid>
                <a:gridCol w="144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52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 Name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Types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Constraints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9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PK, Auto Increment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Unique vehicle identifier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1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Varchar(150)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NULL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Full vehicle title (e.g. Porsche Taycan)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12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category_id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FK -&gt; tbl_category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Associated vehicle classification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5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daily_rate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Decimal(10,2)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NULL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Base daily rental rate in INR (₹)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5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horsepower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NULL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Engine power output rating in HP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0" name="Google Shape;340;g3346804e54d_0_76"/>
          <p:cNvSpPr/>
          <p:nvPr/>
        </p:nvSpPr>
        <p:spPr>
          <a:xfrm>
            <a:off x="7997026" y="912522"/>
            <a:ext cx="17389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337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resume: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41" name="Google Shape;341;g3346804e54d_0_76"/>
          <p:cNvGraphicFramePr/>
          <p:nvPr/>
        </p:nvGraphicFramePr>
        <p:xfrm>
          <a:off x="6542879" y="1351127"/>
          <a:ext cx="5520675" cy="1303625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{58FBF52A-729C-4566-B371-E38BB0ACAC22}</a:tableStyleId>
              </a:tblPr>
              <a:tblGrid>
                <a:gridCol w="16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30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Field Name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90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Data Types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6510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Size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0066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Constraints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900"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mr_id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2540" lvl="0" indent="0" algn="ctr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Int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2919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0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Primary key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u_id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905" lvl="0" indent="0" algn="ctr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22250" lvl="0" indent="0" algn="r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8435" marR="0" lvl="0" indent="0" algn="l" rtl="0">
                        <a:lnSpc>
                          <a:spcPct val="11269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60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pdf_file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21615" lvl="0" indent="0" algn="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0975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42" name="Google Shape;342;g3346804e54d_0_7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  <p:sp>
        <p:nvSpPr>
          <p:cNvPr id="348" name="Google Shape;348;p5"/>
          <p:cNvSpPr/>
          <p:nvPr/>
        </p:nvSpPr>
        <p:spPr>
          <a:xfrm>
            <a:off x="-1" y="139047"/>
            <a:ext cx="689211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tbl_driver (Chauffeur Registry)</a:t>
            </a:r>
          </a:p>
        </p:txBody>
      </p:sp>
      <p:graphicFrame>
        <p:nvGraphicFramePr>
          <p:cNvPr id="349" name="Google Shape;349;p5"/>
          <p:cNvGraphicFramePr/>
          <p:nvPr/>
        </p:nvGraphicFramePr>
        <p:xfrm>
          <a:off x="0" y="785378"/>
          <a:ext cx="5531500" cy="1638975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{58FBF52A-729C-4566-B371-E38BB0ACAC22}</a:tableStyleId>
              </a:tblPr>
              <a:tblGrid>
                <a:gridCol w="16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737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 Name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Types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Constraints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4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PK, Auto Increment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Unique chauffeur identifier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0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name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Varchar(150)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NULL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Full legal name of certified driver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4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license_number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Varchar(50)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UNIQUE, NOT NULL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Commercial driver's license ID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35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rating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Decimal(3,1)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DEFAULT 4.9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Customer satisfaction star rating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87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daily_fee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Decimal(10,2)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DEFAULT 800.00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Daily chauffeur service surcharge (₹)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0" name="Google Shape;350;p5"/>
          <p:cNvSpPr/>
          <p:nvPr/>
        </p:nvSpPr>
        <p:spPr>
          <a:xfrm>
            <a:off x="-1" y="2416763"/>
            <a:ext cx="667375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t>tbl_booking (Vehicle Reservation Ledger)</a:t>
            </a:r>
          </a:p>
        </p:txBody>
      </p:sp>
      <p:graphicFrame>
        <p:nvGraphicFramePr>
          <p:cNvPr id="351" name="Google Shape;351;p5"/>
          <p:cNvGraphicFramePr/>
          <p:nvPr/>
        </p:nvGraphicFramePr>
        <p:xfrm>
          <a:off x="169693" y="2922372"/>
          <a:ext cx="5520050" cy="3485535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{58FBF52A-729C-4566-B371-E38BB0ACAC22}</a:tableStyleId>
              </a:tblPr>
              <a:tblGrid>
                <a:gridCol w="16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3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67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 Name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Types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Constraints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marL="0" marR="0" marT="0" marB="0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PK, Auto Increment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Internal booking primary key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45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booking_ref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Varchar(20)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UNIQUE, Indexed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Customer reference (e.g. AD-3FA1B890)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1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FK -&gt; auth_user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Customer placing reservation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car_id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Integer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FK -&gt; tbl_car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Reserved luxury fleet vehicle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05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start_date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NULL, Indexed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Rental commencement pickup date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end_date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NULL, Indexed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Rental conclusion return date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125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drive_mode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Varchar(20)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CHOICES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'self' (Self-Drive) or 'chauffeur'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05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total_price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Decimal(10,2)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NOT NULL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Net payable amount after duration discounts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40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Varchar(20)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CHOICES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CONFIRMED, COMPLETED, CANCELLED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05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payment_status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Varchar(20)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CHOICES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PAID, PENDING, FAILED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050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transaction_id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Varchar(50)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DEFAULT ''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Razorpay / Simulator transaction token</a:t>
                      </a:r>
                    </a:p>
                  </a:txBody>
                  <a:tcPr marL="0" marR="0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05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website_url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20980" lvl="0" indent="0" algn="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1610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05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com_profile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20980" lvl="0" indent="0" algn="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1610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240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Password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20980" lvl="0" indent="0" algn="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1610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52" name="Google Shape;352;p5"/>
          <p:cNvSpPr/>
          <p:nvPr/>
        </p:nvSpPr>
        <p:spPr>
          <a:xfrm>
            <a:off x="7684112" y="462212"/>
            <a:ext cx="193674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337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</a:t>
            </a:r>
            <a:r>
              <a:rPr lang="en-IN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8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Posting</a:t>
            </a:r>
            <a:r>
              <a:rPr lang="en-IN" sz="14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2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53" name="Google Shape;353;p5"/>
          <p:cNvGraphicFramePr/>
          <p:nvPr/>
        </p:nvGraphicFramePr>
        <p:xfrm>
          <a:off x="6061870" y="865777"/>
          <a:ext cx="5663825" cy="3273748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{58FBF52A-729C-4566-B371-E38BB0ACAC22}</a:tableStyleId>
              </a:tblPr>
              <a:tblGrid>
                <a:gridCol w="143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650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Field Name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8483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Data Types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Size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Constraints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75">
                <a:tc>
                  <a:txBody>
                    <a:bodyPr/>
                    <a:lstStyle/>
                    <a:p>
                      <a:pPr marL="9207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post_id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895" marR="372745" lvl="0" indent="0" algn="ctr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Int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2080" marR="22225" lvl="0" indent="0" algn="ctr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Primary key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37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com_id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530" marR="372745" lvl="0" indent="0" algn="ctr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Int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053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Reference Key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615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con_person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3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title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department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city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State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3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country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615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edu_level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30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538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93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job_type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74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min_salary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72745" lvl="0" indent="0" algn="ctr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Int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10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9325">
                <a:tc>
                  <a:txBody>
                    <a:bodyPr/>
                    <a:lstStyle/>
                    <a:p>
                      <a:pPr marL="5270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max_salary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372745" lvl="0" indent="0" algn="ctr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Int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10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73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74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job_des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74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post_date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Date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10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74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post_by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6070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71169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00355" marR="0" lvl="0" indent="0" algn="l" rtl="0">
                        <a:lnSpc>
                          <a:spcPct val="10653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54" name="Google Shape;354;p5"/>
          <p:cNvSpPr/>
          <p:nvPr/>
        </p:nvSpPr>
        <p:spPr>
          <a:xfrm>
            <a:off x="8202202" y="4064720"/>
            <a:ext cx="137922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3373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5" name="Google Shape;355;p5"/>
          <p:cNvGraphicFramePr/>
          <p:nvPr/>
        </p:nvGraphicFramePr>
        <p:xfrm>
          <a:off x="6131152" y="4599572"/>
          <a:ext cx="5521300" cy="1906482"/>
        </p:xfrm>
        <a:graphic>
          <a:graphicData uri="http://schemas.openxmlformats.org/drawingml/2006/table">
            <a:tbl>
              <a:tblPr firstRow="1" firstCol="1" lastRow="1" lastCol="1" bandRow="1" bandCol="1">
                <a:noFill/>
                <a:tableStyleId>{58FBF52A-729C-4566-B371-E38BB0ACAC22}</a:tableStyleId>
              </a:tblPr>
              <a:tblGrid>
                <a:gridCol w="16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0675">
                <a:tc>
                  <a:txBody>
                    <a:bodyPr/>
                    <a:lstStyle/>
                    <a:p>
                      <a:pPr marL="7747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Field Name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90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Data Types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17526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Size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923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Constraints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350">
                <a:tc>
                  <a:txBody>
                    <a:bodyPr/>
                    <a:lstStyle/>
                    <a:p>
                      <a:pPr marL="92710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u_id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635" lvl="0" indent="0" algn="ctr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Int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2919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7330" marR="0" lvl="0" indent="0" algn="l" rtl="0">
                        <a:lnSpc>
                          <a:spcPct val="11192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1115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Email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905" lvl="0" indent="0" algn="ctr" rtl="0">
                        <a:lnSpc>
                          <a:spcPct val="11115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32409" lvl="0" indent="0" algn="r" rtl="0">
                        <a:lnSpc>
                          <a:spcPct val="11115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0820" marR="0" lvl="0" indent="0" algn="l" rtl="0">
                        <a:lnSpc>
                          <a:spcPct val="11115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u_name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31775" lvl="0" indent="0" algn="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50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5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125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80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b_date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905" lvl="0" indent="0" algn="ctr" rtl="0">
                        <a:lnSpc>
                          <a:spcPct val="1080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Date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31775" lvl="0" indent="0" algn="r" rtl="0">
                        <a:lnSpc>
                          <a:spcPct val="1080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5" marR="0" lvl="0" indent="0" algn="l" rtl="0">
                        <a:lnSpc>
                          <a:spcPct val="10807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05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u_age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Int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31775" lvl="0" indent="0" algn="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05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p_no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Int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31775" lvl="0" indent="0" algn="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10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Password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31775" lvl="0" indent="0" algn="r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20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5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300">
                <a:tc>
                  <a:txBody>
                    <a:bodyPr/>
                    <a:lstStyle/>
                    <a:p>
                      <a:pPr marL="7683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Profile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3540" marR="1270" lvl="0" indent="0" algn="ct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Varchar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231775" lvl="0" indent="0" algn="r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30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1455" marR="0" lvl="0" indent="0" algn="l" rtl="0">
                        <a:lnSpc>
                          <a:spcPct val="10923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IN" sz="1300" u="none" strike="noStrike" cap="none"/>
                        <a:t>Not null</a:t>
                      </a:r>
                      <a:endParaRPr sz="11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56" name="Google Shape;35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346804e54d_0_607"/>
          <p:cNvSpPr txBox="1">
            <a:spLocks noGrp="1"/>
          </p:cNvSpPr>
          <p:nvPr>
            <p:ph type="title"/>
          </p:nvPr>
        </p:nvSpPr>
        <p:spPr>
          <a:xfrm>
            <a:off x="609600" y="348181"/>
            <a:ext cx="109728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1800" b="1">
                <a:solidFill>
                  <a:srgbClr val="0C2340"/>
                </a:solidFill>
              </a:defRPr>
            </a:pPr>
            <a:r>
              <a:t>10. SYSTEM SCREENSHOTS &amp; USER INTERFACES</a:t>
            </a:r>
          </a:p>
        </p:txBody>
      </p:sp>
      <p:sp>
        <p:nvSpPr>
          <p:cNvPr id="362" name="Google Shape;362;g3346804e54d_0_607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  <p:pic>
        <p:nvPicPr>
          <p:cNvPr id="363" name="Google Shape;363;g3346804e54d_0_6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TextBox 363"/>
          <p:cNvSpPr txBox="1"/>
          <p:nvPr/>
        </p:nvSpPr>
        <p:spPr>
          <a:xfrm>
            <a:off x="731520" y="1097280"/>
            <a:ext cx="10552365" cy="1728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C2340"/>
                </a:solidFill>
                <a:latin typeface="Calibri"/>
              </a:defRPr>
            </a:pPr>
            <a:r>
              <a:rPr dirty="0"/>
              <a:t>APPLICATION DEMONSTRATION SUITE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C2340"/>
                </a:solidFill>
                <a:latin typeface="Calibri"/>
              </a:rPr>
              <a:t>Visual Design Philosophy: </a:t>
            </a:r>
            <a:r>
              <a:rPr sz="1400" dirty="0">
                <a:solidFill>
                  <a:srgbClr val="282C34"/>
                </a:solidFill>
                <a:latin typeface="Calibri"/>
              </a:rPr>
              <a:t>Cyberpunk-luxury dark aesthetic featuring </a:t>
            </a:r>
            <a:r>
              <a:rPr sz="1400" dirty="0" err="1">
                <a:solidFill>
                  <a:srgbClr val="282C34"/>
                </a:solidFill>
                <a:latin typeface="Calibri"/>
              </a:rPr>
              <a:t>glassmorphism</a:t>
            </a:r>
            <a:r>
              <a:rPr sz="1400" dirty="0">
                <a:solidFill>
                  <a:srgbClr val="282C34"/>
                </a:solidFill>
                <a:latin typeface="Calibri"/>
              </a:rPr>
              <a:t> cards, glowing status badges, and refined typography.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C2340"/>
                </a:solidFill>
                <a:latin typeface="Calibri"/>
              </a:rPr>
              <a:t>Key Functional Modules Captured: </a:t>
            </a:r>
            <a:r>
              <a:rPr sz="1400" dirty="0">
                <a:solidFill>
                  <a:srgbClr val="282C34"/>
                </a:solidFill>
                <a:latin typeface="Calibri"/>
              </a:rPr>
              <a:t>Homepage Hero Portal, Real-Time Date Picker &amp; Collision Alerts, Dynamic Pricing Tier Calculation, Dual-Mode </a:t>
            </a:r>
            <a:r>
              <a:rPr sz="1400" dirty="0" err="1">
                <a:solidFill>
                  <a:srgbClr val="282C34"/>
                </a:solidFill>
                <a:latin typeface="Calibri"/>
              </a:rPr>
              <a:t>Razorpay</a:t>
            </a:r>
            <a:r>
              <a:rPr sz="1400" dirty="0">
                <a:solidFill>
                  <a:srgbClr val="282C34"/>
                </a:solidFill>
                <a:latin typeface="Calibri"/>
              </a:rPr>
              <a:t> Gateway, 3D Secure Bank Simulator, and Admin Intelligence Dashboard.</a:t>
            </a:r>
          </a:p>
          <a:p>
            <a:pPr>
              <a:spcAft>
                <a:spcPts val="600"/>
              </a:spcAft>
            </a:pPr>
            <a:r>
              <a:rPr sz="1400" b="1" dirty="0">
                <a:solidFill>
                  <a:srgbClr val="0C2340"/>
                </a:solidFill>
                <a:latin typeface="Calibri"/>
              </a:rPr>
              <a:t>Responsive Grid Framework: </a:t>
            </a:r>
            <a:r>
              <a:rPr sz="1400" dirty="0">
                <a:solidFill>
                  <a:srgbClr val="282C34"/>
                </a:solidFill>
                <a:latin typeface="Calibri"/>
              </a:rPr>
              <a:t>Fluid layouts engineered with Bootstrap 5.3.3 delivering flawless presentation across mobile, tablet, and 4K desktop screens.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346804e54d_0_1244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Homepage &amp; Luxury Fleet Hero Portal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3346804e54d_0_1244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  <p:sp>
        <p:nvSpPr>
          <p:cNvPr id="371" name="Google Shape;371;g3346804e54d_0_1244"/>
          <p:cNvSpPr/>
          <p:nvPr/>
        </p:nvSpPr>
        <p:spPr>
          <a:xfrm>
            <a:off x="2515737" y="5079927"/>
            <a:ext cx="6096000" cy="107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Char char="➢"/>
              <a:defRPr sz="1100">
                <a:solidFill>
                  <a:srgbClr val="282C34"/>
                </a:solidFill>
                <a:latin typeface="Calibri"/>
              </a:defRPr>
            </a:pPr>
            <a:r>
              <a:t>Description: Sleek cyberpunk-luxury glassmorphism hero banner showcasing featured electric supercars, dynamic category navigation, and quick reservation triggers.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g3346804e54d_0_12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Picture 372" descr="homepage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346804e54d_0_1408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Fleet Inventory Catalog &amp; Multi-Facet Filtering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346804e54d_0_1408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25</a:t>
            </a:fld>
            <a:endParaRPr/>
          </a:p>
        </p:txBody>
      </p:sp>
      <p:sp>
        <p:nvSpPr>
          <p:cNvPr id="379" name="Google Shape;379;g3346804e54d_0_1408"/>
          <p:cNvSpPr/>
          <p:nvPr/>
        </p:nvSpPr>
        <p:spPr>
          <a:xfrm>
            <a:off x="2597624" y="5793406"/>
            <a:ext cx="6096000" cy="451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Char char="➢"/>
              <a:defRPr sz="1100">
                <a:solidFill>
                  <a:srgbClr val="282C34"/>
                </a:solidFill>
                <a:latin typeface="Calibri"/>
              </a:defRPr>
            </a:pPr>
            <a:r>
              <a:rPr dirty="0"/>
              <a:t>Description: Real-time faceted filtering by category (Electric Supercars, Sedans, Bikes, VIP Vans, SUVs), transmission type, and keyword search.</a:t>
            </a: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g3346804e54d_0_14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Picture 381" descr="homepage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346804e54d_0_1490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Vehicle Detail &amp; Performance Specifications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346804e54d_0_1490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26</a:t>
            </a:fld>
            <a:endParaRPr/>
          </a:p>
        </p:txBody>
      </p:sp>
      <p:sp>
        <p:nvSpPr>
          <p:cNvPr id="389" name="Google Shape;389;g3346804e54d_0_1490"/>
          <p:cNvSpPr/>
          <p:nvPr/>
        </p:nvSpPr>
        <p:spPr>
          <a:xfrm>
            <a:off x="2843283" y="5733129"/>
            <a:ext cx="6096000" cy="820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Char char="➢"/>
              <a:defRPr sz="1100">
                <a:solidFill>
                  <a:srgbClr val="282C34"/>
                </a:solidFill>
                <a:latin typeface="Calibri"/>
              </a:defRPr>
            </a:pPr>
            <a:r>
              <a:t>Description: Comprehensive technical breakdown showcasing Horsepower, Top Speed, 0-60 mph acceleration timing, seating capacity, and real-time availability status.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g3346804e54d_0_14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Picture 390" descr="car_detail_re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346804e54d_0_1572"/>
          <p:cNvSpPr/>
          <p:nvPr/>
        </p:nvSpPr>
        <p:spPr>
          <a:xfrm>
            <a:off x="609600" y="348181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Dynamic Pricing Engine &amp; Chauffeur Dispatch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g3346804e54d_0_1572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27</a:t>
            </a:fld>
            <a:endParaRPr/>
          </a:p>
        </p:txBody>
      </p:sp>
      <p:sp>
        <p:nvSpPr>
          <p:cNvPr id="398" name="Google Shape;398;g3346804e54d_0_1572"/>
          <p:cNvSpPr/>
          <p:nvPr/>
        </p:nvSpPr>
        <p:spPr>
          <a:xfrm>
            <a:off x="2201839" y="4640881"/>
            <a:ext cx="6096000" cy="933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Char char="➢"/>
              <a:defRPr sz="1100">
                <a:solidFill>
                  <a:srgbClr val="282C34"/>
                </a:solidFill>
                <a:latin typeface="Calibri"/>
              </a:defRPr>
            </a:pPr>
            <a:r>
              <a:t>Description: Interactive date selection automatically calculates rental duration and applies 10% (3+ days) or 25% (7+ days) discounts, plus driver daily surcharges live.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9" name="Google Shape;399;g3346804e54d_0_15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Picture 399" descr="car_detail_re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46804e54d_0_1897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28</a:t>
            </a:fld>
            <a:endParaRPr/>
          </a:p>
        </p:txBody>
      </p:sp>
      <p:sp>
        <p:nvSpPr>
          <p:cNvPr id="406" name="Google Shape;406;g3346804e54d_0_1897"/>
          <p:cNvSpPr/>
          <p:nvPr/>
        </p:nvSpPr>
        <p:spPr>
          <a:xfrm>
            <a:off x="2837497" y="4667184"/>
            <a:ext cx="50430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Quattrocento Sans"/>
              <a:buChar char="➢"/>
              <a:defRPr sz="1100">
                <a:solidFill>
                  <a:srgbClr val="282C34"/>
                </a:solidFill>
                <a:latin typeface="Calibri"/>
              </a:defRPr>
            </a:pPr>
            <a:r>
              <a:t>Description: When overlapping dates are chosen for an already reserved vehicle, the collision engine instantly triggers a red alert banner and disables submission.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g3346804e54d_0_18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TextBox 407"/>
          <p:cNvSpPr txBox="1"/>
          <p:nvPr/>
        </p:nvSpPr>
        <p:spPr>
          <a:xfrm>
            <a:off x="612648" y="34747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Calibri"/>
              </a:defRPr>
            </a:pPr>
            <a:r>
              <a:t>Real-Time Slot Collision Prevention Engine</a:t>
            </a:r>
          </a:p>
        </p:txBody>
      </p:sp>
      <p:pic>
        <p:nvPicPr>
          <p:cNvPr id="409" name="Picture 408" descr="car_detail_re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346804e54d_0_1979"/>
          <p:cNvSpPr txBox="1">
            <a:spLocks noGrp="1"/>
          </p:cNvSpPr>
          <p:nvPr>
            <p:ph type="body" idx="1"/>
          </p:nvPr>
        </p:nvSpPr>
        <p:spPr>
          <a:xfrm>
            <a:off x="609600" y="5733130"/>
            <a:ext cx="10972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00">
                <a:solidFill>
                  <a:srgbClr val="282C34"/>
                </a:solidFill>
                <a:latin typeface="Calibri"/>
              </a:defRPr>
            </a:pPr>
            <a:r>
              <a:t>Description: Official Razorpay Checkout.js modal popup supporting Credit/Debit Cards, UPI QR codes, Netbanking, and Wallets with dynamic INR amounts.</a:t>
            </a:r>
          </a:p>
        </p:txBody>
      </p:sp>
      <p:sp>
        <p:nvSpPr>
          <p:cNvPr id="413" name="Google Shape;413;g3346804e54d_0_1979"/>
          <p:cNvSpPr/>
          <p:nvPr/>
        </p:nvSpPr>
        <p:spPr>
          <a:xfrm>
            <a:off x="609600" y="348181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Dual-Mode Razorpay Standard Checkout Modal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346804e54d_0_1979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29</a:t>
            </a:fld>
            <a:endParaRPr/>
          </a:p>
        </p:txBody>
      </p:sp>
      <p:pic>
        <p:nvPicPr>
          <p:cNvPr id="416" name="Google Shape;416;g3346804e54d_0_197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Picture 416" descr="razorpay_gateway_mo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46804e54d_0_2061"/>
          <p:cNvSpPr txBox="1">
            <a:spLocks noGrp="1"/>
          </p:cNvSpPr>
          <p:nvPr>
            <p:ph type="body" idx="1"/>
          </p:nvPr>
        </p:nvSpPr>
        <p:spPr>
          <a:xfrm>
            <a:off x="609600" y="5768429"/>
            <a:ext cx="10972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00">
                <a:solidFill>
                  <a:srgbClr val="282C34"/>
                </a:solidFill>
                <a:latin typeface="Calibri"/>
              </a:defRPr>
            </a:pPr>
            <a:r>
              <a:t>Description: Eliminates public demo key failures by providing an integrated in-browser payment simulator with simulated OTP approval/decline options.</a:t>
            </a:r>
          </a:p>
        </p:txBody>
      </p:sp>
      <p:sp>
        <p:nvSpPr>
          <p:cNvPr id="422" name="Google Shape;422;g3346804e54d_0_2061"/>
          <p:cNvSpPr/>
          <p:nvPr/>
        </p:nvSpPr>
        <p:spPr>
          <a:xfrm>
            <a:off x="609600" y="348181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Built-In 3D Secure Bank Simulator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g3346804e54d_0_2061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30</a:t>
            </a:fld>
            <a:endParaRPr/>
          </a:p>
        </p:txBody>
      </p:sp>
      <p:pic>
        <p:nvPicPr>
          <p:cNvPr id="425" name="Google Shape;425;g3346804e54d_0_20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Picture 425" descr="razorpay_gateway_mod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346804e54d_0_2305"/>
          <p:cNvSpPr txBox="1">
            <a:spLocks noGrp="1"/>
          </p:cNvSpPr>
          <p:nvPr>
            <p:ph type="body" idx="1"/>
          </p:nvPr>
        </p:nvSpPr>
        <p:spPr>
          <a:xfrm>
            <a:off x="685014" y="5770296"/>
            <a:ext cx="10972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00">
                <a:solidFill>
                  <a:srgbClr val="282C34"/>
                </a:solidFill>
                <a:latin typeface="Calibri"/>
              </a:defRPr>
            </a:pPr>
            <a:r>
              <a:rPr dirty="0"/>
              <a:t>Description: Ultra-high-resolution asset demonstration (Aston Martin / Porsche </a:t>
            </a:r>
            <a:r>
              <a:rPr dirty="0" err="1"/>
              <a:t>Taycan</a:t>
            </a:r>
            <a:r>
              <a:rPr dirty="0"/>
              <a:t> Turbo S) highlighting automotive luxury aesthetics.</a:t>
            </a:r>
          </a:p>
        </p:txBody>
      </p:sp>
      <p:sp>
        <p:nvSpPr>
          <p:cNvPr id="431" name="Google Shape;431;g3346804e54d_0_2305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High-Performance Luxury Fleet Asset Showcase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346804e54d_0_2305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31</a:t>
            </a:fld>
            <a:endParaRPr/>
          </a:p>
        </p:txBody>
      </p:sp>
      <p:pic>
        <p:nvPicPr>
          <p:cNvPr id="434" name="Google Shape;434;g3346804e54d_0_230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Picture 434" descr="fleet_vehicle_samp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667" y="1400000"/>
            <a:ext cx="7466666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346804e54d_0_5713"/>
          <p:cNvSpPr txBox="1">
            <a:spLocks noGrp="1"/>
          </p:cNvSpPr>
          <p:nvPr>
            <p:ph type="body" idx="1"/>
          </p:nvPr>
        </p:nvSpPr>
        <p:spPr>
          <a:xfrm>
            <a:off x="609600" y="5770296"/>
            <a:ext cx="10972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00">
                <a:solidFill>
                  <a:srgbClr val="282C34"/>
                </a:solidFill>
                <a:latin typeface="Calibri"/>
              </a:defRPr>
            </a:pPr>
            <a:r>
              <a:rPr dirty="0"/>
              <a:t>Description: Side-by-side performance matrix comparing horsepower, top speed, acceleration, daily rates, and features across multiple selected fleet vehicles.</a:t>
            </a:r>
          </a:p>
        </p:txBody>
      </p:sp>
      <p:sp>
        <p:nvSpPr>
          <p:cNvPr id="440" name="Google Shape;440;g3346804e54d_0_5713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Vehicle Specification Comparison Matrix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346804e54d_0_5713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32</a:t>
            </a:fld>
            <a:endParaRPr/>
          </a:p>
        </p:txBody>
      </p:sp>
      <p:pic>
        <p:nvPicPr>
          <p:cNvPr id="443" name="Google Shape;443;g3346804e54d_0_57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Picture 443" descr="car_detail_re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346804e54d_0_6202"/>
          <p:cNvSpPr txBox="1">
            <a:spLocks noGrp="1"/>
          </p:cNvSpPr>
          <p:nvPr>
            <p:ph type="body" idx="1"/>
          </p:nvPr>
        </p:nvSpPr>
        <p:spPr>
          <a:xfrm>
            <a:off x="609600" y="5808003"/>
            <a:ext cx="10972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00">
                <a:solidFill>
                  <a:srgbClr val="282C34"/>
                </a:solidFill>
                <a:latin typeface="Calibri"/>
              </a:defRPr>
            </a:pPr>
            <a:r>
              <a:rPr dirty="0"/>
              <a:t>Description: Dedicated user dashboard displaying active, completed, and cancelled reservations with live status badges and direct invoice access.</a:t>
            </a:r>
          </a:p>
        </p:txBody>
      </p:sp>
      <p:sp>
        <p:nvSpPr>
          <p:cNvPr id="449" name="Google Shape;449;g3346804e54d_0_6202"/>
          <p:cNvSpPr/>
          <p:nvPr/>
        </p:nvSpPr>
        <p:spPr>
          <a:xfrm>
            <a:off x="609600" y="348181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Customer Hub &amp; Booking History Portal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g3346804e54d_0_6202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33</a:t>
            </a:fld>
            <a:endParaRPr/>
          </a:p>
        </p:txBody>
      </p:sp>
      <p:pic>
        <p:nvPicPr>
          <p:cNvPr id="452" name="Google Shape;452;g3346804e54d_0_62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Picture 452" descr="car_detail_re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46804e54d_0_6527"/>
          <p:cNvSpPr txBox="1">
            <a:spLocks noGrp="1"/>
          </p:cNvSpPr>
          <p:nvPr>
            <p:ph type="body" idx="1"/>
          </p:nvPr>
        </p:nvSpPr>
        <p:spPr>
          <a:xfrm>
            <a:off x="609600" y="5690919"/>
            <a:ext cx="10972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00">
                <a:solidFill>
                  <a:srgbClr val="282C34"/>
                </a:solidFill>
                <a:latin typeface="Calibri"/>
              </a:defRPr>
            </a:pPr>
            <a:r>
              <a:rPr dirty="0"/>
              <a:t>Description: Auto-generated printable GST-compliant tax receipt complete with booking reference, unique gateway transaction ID, cost breakdowns, and payment confirmation stamp.</a:t>
            </a:r>
          </a:p>
        </p:txBody>
      </p:sp>
      <p:sp>
        <p:nvSpPr>
          <p:cNvPr id="458" name="Google Shape;458;g3346804e54d_0_6527"/>
          <p:cNvSpPr/>
          <p:nvPr/>
        </p:nvSpPr>
        <p:spPr>
          <a:xfrm>
            <a:off x="609600" y="348181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Digital Tax Invoice &amp; Payment Receipt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3346804e54d_0_6527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34</a:t>
            </a:fld>
            <a:endParaRPr/>
          </a:p>
        </p:txBody>
      </p:sp>
      <p:pic>
        <p:nvPicPr>
          <p:cNvPr id="461" name="Google Shape;461;g3346804e54d_0_65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Picture 461" descr="car_detail_re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46804e54d_0_11410"/>
          <p:cNvSpPr txBox="1">
            <a:spLocks noGrp="1"/>
          </p:cNvSpPr>
          <p:nvPr>
            <p:ph type="body" idx="1"/>
          </p:nvPr>
        </p:nvSpPr>
        <p:spPr>
          <a:xfrm>
            <a:off x="609600" y="5770296"/>
            <a:ext cx="10972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00">
                <a:solidFill>
                  <a:srgbClr val="282C34"/>
                </a:solidFill>
                <a:latin typeface="Calibri"/>
              </a:defRPr>
            </a:pPr>
            <a:r>
              <a:rPr dirty="0"/>
              <a:t>Description: Executive business dashboard displaying total fleet size, confirmed bookings count, fleet utilization rate, and real-time gross revenue aggregates.</a:t>
            </a:r>
          </a:p>
        </p:txBody>
      </p:sp>
      <p:sp>
        <p:nvSpPr>
          <p:cNvPr id="467" name="Google Shape;467;g3346804e54d_0_11410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Admin Intelligence Dashboard &amp; Revenue Analytics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g3346804e54d_0_11410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35</a:t>
            </a:fld>
            <a:endParaRPr/>
          </a:p>
        </p:txBody>
      </p:sp>
      <p:pic>
        <p:nvPicPr>
          <p:cNvPr id="470" name="Google Shape;470;g3346804e54d_0_114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Picture 470" descr="homepage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46804e54d_0_14403"/>
          <p:cNvSpPr txBox="1">
            <a:spLocks noGrp="1"/>
          </p:cNvSpPr>
          <p:nvPr>
            <p:ph type="body" idx="1"/>
          </p:nvPr>
        </p:nvSpPr>
        <p:spPr>
          <a:xfrm>
            <a:off x="525944" y="5770296"/>
            <a:ext cx="109728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100">
                <a:solidFill>
                  <a:srgbClr val="282C34"/>
                </a:solidFill>
                <a:latin typeface="Calibri"/>
              </a:defRPr>
            </a:pPr>
            <a:r>
              <a:rPr dirty="0"/>
              <a:t>Description: Administrative interface allowing staff to add new luxury vehicles, configure rental pricing, assign certified chauffeurs, and update reservation statuses.</a:t>
            </a:r>
          </a:p>
        </p:txBody>
      </p:sp>
      <p:sp>
        <p:nvSpPr>
          <p:cNvPr id="476" name="Google Shape;476;g3346804e54d_0_14403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Fleet Inventory Management &amp; CRUD Console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346804e54d_0_14403"/>
          <p:cNvSpPr>
            <a:spLocks noGrp="1"/>
          </p:cNvSpPr>
          <p:nvPr>
            <p:ph type="sldNum" idx="12"/>
          </p:nvPr>
        </p:nvSpPr>
        <p:spPr>
          <a:xfrm>
            <a:off x="10799622" y="6492295"/>
            <a:ext cx="3657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36</a:t>
            </a:fld>
            <a:endParaRPr/>
          </a:p>
        </p:txBody>
      </p:sp>
      <p:pic>
        <p:nvPicPr>
          <p:cNvPr id="479" name="Google Shape;479;g3346804e54d_0_144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Picture 479" descr="homepage_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059" y="1400000"/>
            <a:ext cx="7905882" cy="4200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346804e54d_0_17953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12. TESTING &amp; QUALITY ASSURANCE: AUTHENTICATION SUITE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346804e54d_0_17953"/>
          <p:cNvSpPr>
            <a:spLocks noGrp="1"/>
          </p:cNvSpPr>
          <p:nvPr>
            <p:ph type="sldNum" idx="12"/>
          </p:nvPr>
        </p:nvSpPr>
        <p:spPr>
          <a:xfrm>
            <a:off x="10799627" y="6492300"/>
            <a:ext cx="5625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37</a:t>
            </a:fld>
            <a:endParaRPr/>
          </a:p>
        </p:txBody>
      </p:sp>
      <p:graphicFrame>
        <p:nvGraphicFramePr>
          <p:cNvPr id="486" name="Google Shape;486;g3346804e54d_0_17953"/>
          <p:cNvGraphicFramePr/>
          <p:nvPr/>
        </p:nvGraphicFramePr>
        <p:xfrm>
          <a:off x="503103" y="1257742"/>
          <a:ext cx="11429950" cy="4732025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82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9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15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Condition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 / Input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Output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075">
                <a:tc rowSpan="4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TC-01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User Signup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Register valid username and secure password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Account created, session established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302 Redirect to /fleet/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20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User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Login with valid demo credentials (customer1)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Authenticated session initialized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302 Redirect to /fleet/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60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TC-03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Invalid Auth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Submit incorrect password for customer1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Login rejected with error message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200 Re-render with Alert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60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Staff Guard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Unauthenticated request to /dashboard/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Access blocked, redirect to login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302 Redirect to /login/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7" name="Google Shape;487;g3346804e54d_0_17953"/>
          <p:cNvSpPr txBox="1"/>
          <p:nvPr/>
        </p:nvSpPr>
        <p:spPr>
          <a:xfrm>
            <a:off x="0" y="142450"/>
            <a:ext cx="10059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sng" strike="noStrike" cap="none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TESTING</a:t>
            </a:r>
            <a:endParaRPr sz="2800" b="0" i="0" u="none" strike="noStrike" cap="none">
              <a:solidFill>
                <a:srgbClr val="262626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488" name="Google Shape;488;g3346804e54d_0_179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346804e54d_0_17982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12. TESTING &amp; QA: FLEET INVENTORY &amp; FILTER SUITE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g3346804e54d_0_17982"/>
          <p:cNvSpPr>
            <a:spLocks noGrp="1"/>
          </p:cNvSpPr>
          <p:nvPr>
            <p:ph type="sldNum" idx="12"/>
          </p:nvPr>
        </p:nvSpPr>
        <p:spPr>
          <a:xfrm>
            <a:off x="10799627" y="6492300"/>
            <a:ext cx="5625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38</a:t>
            </a:fld>
            <a:endParaRPr/>
          </a:p>
        </p:txBody>
      </p:sp>
      <p:graphicFrame>
        <p:nvGraphicFramePr>
          <p:cNvPr id="495" name="Google Shape;495;g3346804e54d_0_17982"/>
          <p:cNvGraphicFramePr/>
          <p:nvPr/>
        </p:nvGraphicFramePr>
        <p:xfrm>
          <a:off x="381003" y="1066800"/>
          <a:ext cx="11429950" cy="4800575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82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6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6025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Condition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 / Input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Output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1625">
                <a:tc rowSpan="3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TC-05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Fleet Catalog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GET /fleet/ without query parameters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Renders all active fleet vehicles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200 with vehicle grid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1625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Category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GET /fleet/?category=electric-supercars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Filters to electric supercars only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200 with matching cars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130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TC-07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Transmission Filter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GET /fleet/?transmission=Automatic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Filters to automatic vehicles only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HTTP 200 matching transmission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96" name="Google Shape;496;g3346804e54d_0_179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346804e54d_0_18000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12. TESTING &amp; QA: REAL-TIME SLOT COLLISION ENGINE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g3346804e54d_0_18000"/>
          <p:cNvSpPr>
            <a:spLocks noGrp="1"/>
          </p:cNvSpPr>
          <p:nvPr>
            <p:ph type="sldNum" idx="12"/>
          </p:nvPr>
        </p:nvSpPr>
        <p:spPr>
          <a:xfrm>
            <a:off x="10799627" y="6492300"/>
            <a:ext cx="5625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39</a:t>
            </a:fld>
            <a:endParaRPr/>
          </a:p>
        </p:txBody>
      </p:sp>
      <p:graphicFrame>
        <p:nvGraphicFramePr>
          <p:cNvPr id="503" name="Google Shape;503;g3346804e54d_0_18000"/>
          <p:cNvGraphicFramePr/>
          <p:nvPr/>
        </p:nvGraphicFramePr>
        <p:xfrm>
          <a:off x="355600" y="1066800"/>
          <a:ext cx="11480850" cy="4572025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8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8605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Condition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 / Input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Output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7675">
                <a:tc rowSpan="3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TC-09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Non-Overlap Slot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Book car during completely vacant date range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is_available_between() returns True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Returns True (Permit Booking)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415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Exact Overlap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Request dates identical to active booking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is_available_between() returns False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Returns False (Reject Booking)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415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Enclosing Overlap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Request range encompassing an existing booking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Overlap detected, reject submission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Returns False (Collision Blocked)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04" name="Google Shape;504;g3346804e54d_0_180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346804e54d_0_18006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12. TESTING &amp; QA: CHAUFFEUR DISPATCH &amp; PRICING TIERS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3346804e54d_0_18006"/>
          <p:cNvSpPr>
            <a:spLocks noGrp="1"/>
          </p:cNvSpPr>
          <p:nvPr>
            <p:ph type="sldNum" idx="12"/>
          </p:nvPr>
        </p:nvSpPr>
        <p:spPr>
          <a:xfrm>
            <a:off x="10799627" y="6492300"/>
            <a:ext cx="5625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40</a:t>
            </a:fld>
            <a:endParaRPr/>
          </a:p>
        </p:txBody>
      </p:sp>
      <p:graphicFrame>
        <p:nvGraphicFramePr>
          <p:cNvPr id="511" name="Google Shape;511;g3346804e54d_0_18006"/>
          <p:cNvGraphicFramePr/>
          <p:nvPr/>
        </p:nvGraphicFramePr>
        <p:xfrm>
          <a:off x="355599" y="1059180"/>
          <a:ext cx="11480850" cy="4808200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8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774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Condition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 / Input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Output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850">
                <a:tc rowSpan="3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TC-14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Chauffeur Assign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Assign available driver to booking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Assigned driver saved in booking record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Assigned driver linked properly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385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Chauffeur Overlap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Assign driver already booked in same window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Driver conflict detected, reject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Conflict caught, booking rejected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310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1-Day Base Rate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Book vehicle for 1 single day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Subtotal = daily_rate * 1 (0% discount)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Calculates exact daily rate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12" name="Google Shape;512;g3346804e54d_0_180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346804e54d_0_18011"/>
          <p:cNvSpPr/>
          <p:nvPr/>
        </p:nvSpPr>
        <p:spPr>
          <a:xfrm>
            <a:off x="609600" y="385888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600" b="1">
                <a:solidFill>
                  <a:srgbClr val="0C2340"/>
                </a:solidFill>
                <a:latin typeface="Calibri"/>
              </a:defRPr>
            </a:pPr>
            <a:r>
              <a:t>12. TESTING &amp; QA: PAYMENT SIMULATOR &amp; ADMIN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346804e54d_0_18011"/>
          <p:cNvSpPr>
            <a:spLocks noGrp="1"/>
          </p:cNvSpPr>
          <p:nvPr>
            <p:ph type="sldNum" idx="12"/>
          </p:nvPr>
        </p:nvSpPr>
        <p:spPr>
          <a:xfrm>
            <a:off x="10799627" y="6492300"/>
            <a:ext cx="5625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41</a:t>
            </a:fld>
            <a:endParaRPr/>
          </a:p>
        </p:txBody>
      </p:sp>
      <p:graphicFrame>
        <p:nvGraphicFramePr>
          <p:cNvPr id="519" name="Google Shape;519;g3346804e54d_0_18011"/>
          <p:cNvGraphicFramePr/>
          <p:nvPr/>
        </p:nvGraphicFramePr>
        <p:xfrm>
          <a:off x="355574" y="1097350"/>
          <a:ext cx="11480850" cy="5173875"/>
        </p:xfrm>
        <a:graphic>
          <a:graphicData uri="http://schemas.openxmlformats.org/drawingml/2006/table">
            <a:tbl>
              <a:tblPr firstRow="1" bandRow="1">
                <a:noFill/>
                <a:tableStyleId>{49A7A708-BC0A-4EE3-89A3-728B4DACB3E8}</a:tableStyleId>
              </a:tblPr>
              <a:tblGrid>
                <a:gridCol w="83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7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ID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Condition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 / Input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Expected Result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Actual Output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marL="91450" marR="91450" marT="45725" marB="45725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 rowSpan="4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TC-18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7-Day Tier (25%)</a:t>
                      </a:r>
                    </a:p>
                  </a:txBody>
                  <a:tcPr marL="68575" marR="68575" marT="0" marB="0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Book vehicle for 7 consecutive days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Applies 25% weekly duration discount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Calculates net total with 25% off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Card Simulator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Submit card payment simulation (success)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Booking CONFIRMED, Payment SUCCESS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Transaction ID TXN-... created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TC-22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Decline Simulator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Submit card payment simulation (failure)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Booking FAILED, remains unpaid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Decline message rendered properly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275"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TC-25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Admin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Query aggregated revenue in dashboard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Total sum matches confirmed bookings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Matches exact sum in DB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82C34"/>
                          </a:solidFill>
                          <a:latin typeface="Calibri"/>
                        </a:defRPr>
                      </a:pPr>
                      <a:r>
                        <a:t>PASS</a:t>
                      </a:r>
                    </a:p>
                  </a:txBody>
                  <a:tcPr marL="68575" marR="68575" marT="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0" name="Google Shape;520;g3346804e54d_0_180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346804e54d_0_17552"/>
          <p:cNvSpPr txBox="1">
            <a:spLocks noGrp="1"/>
          </p:cNvSpPr>
          <p:nvPr>
            <p:ph type="ctrTitle"/>
          </p:nvPr>
        </p:nvSpPr>
        <p:spPr>
          <a:xfrm>
            <a:off x="313183" y="228602"/>
            <a:ext cx="1157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1800" b="1">
                <a:solidFill>
                  <a:srgbClr val="0C2340"/>
                </a:solidFill>
                <a:latin typeface="Calibri"/>
              </a:defRPr>
            </a:pPr>
            <a:r>
              <a:t>13. FUTURE ENHANCEMENTS &amp; COMMERCIAL ROADMAP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6" name="Google Shape;526;g3346804e54d_0_17552"/>
          <p:cNvSpPr txBox="1">
            <a:spLocks noGrp="1"/>
          </p:cNvSpPr>
          <p:nvPr>
            <p:ph type="subTitle" idx="1"/>
          </p:nvPr>
        </p:nvSpPr>
        <p:spPr>
          <a:xfrm>
            <a:off x="304800" y="990600"/>
            <a:ext cx="115824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indent="-17145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Native Mobile Applications (iOS &amp; Android):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Develop native mobile apps featuring Bluetooth Low Energy (BLE) keyless vehicle unlock and digital smart check-in.</a:t>
            </a:r>
            <a:endParaRPr dirty="0"/>
          </a:p>
          <a:p>
            <a:pPr marL="285750" indent="-1714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IoT Telematics &amp; Hardware Tracking: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Integrate cloud OBD-II hardware for live GPS telemetry, geofencing, speed monitoring, and remote engine immobilization.</a:t>
            </a:r>
          </a:p>
          <a:p>
            <a:pPr marL="285750" indent="-1714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AI Predictive Maintenance Engine: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Employ machine learning models analyzing driving behavior and vehicle telemetry to predict servicing intervals proactively.</a:t>
            </a:r>
          </a:p>
          <a:p>
            <a:pPr marL="285750" indent="-1714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EV Supercharger Telemetry: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Connect with national EV supercharging networks for automated battery percentage monitoring and charging slot booking.</a:t>
            </a:r>
          </a:p>
          <a:p>
            <a:pPr marL="285750" indent="-171450" algn="just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1200" b="1" dirty="0">
                <a:solidFill>
                  <a:srgbClr val="0C2340"/>
                </a:solidFill>
                <a:latin typeface="Calibri"/>
              </a:rPr>
              <a:t>Blockchain Smart Escrow Contracts: </a:t>
            </a:r>
            <a:r>
              <a:rPr sz="1200" dirty="0">
                <a:solidFill>
                  <a:srgbClr val="282C34"/>
                </a:solidFill>
                <a:latin typeface="Calibri"/>
              </a:rPr>
              <a:t>Implement cryptographic smart contracts for automated security deposit escrow and damage dispute arbitration.</a:t>
            </a:r>
          </a:p>
        </p:txBody>
      </p:sp>
      <p:sp>
        <p:nvSpPr>
          <p:cNvPr id="527" name="Google Shape;527;g3346804e54d_0_17552"/>
          <p:cNvSpPr>
            <a:spLocks noGrp="1"/>
          </p:cNvSpPr>
          <p:nvPr>
            <p:ph type="sldNum" idx="12"/>
          </p:nvPr>
        </p:nvSpPr>
        <p:spPr>
          <a:xfrm>
            <a:off x="10799627" y="6492300"/>
            <a:ext cx="5625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42</a:t>
            </a:fld>
            <a:endParaRPr/>
          </a:p>
        </p:txBody>
      </p:sp>
      <p:pic>
        <p:nvPicPr>
          <p:cNvPr id="528" name="Google Shape;528;g3346804e54d_0_175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346804e54d_0_17713"/>
          <p:cNvSpPr txBox="1">
            <a:spLocks noGrp="1"/>
          </p:cNvSpPr>
          <p:nvPr>
            <p:ph type="ctrTitle"/>
          </p:nvPr>
        </p:nvSpPr>
        <p:spPr>
          <a:xfrm>
            <a:off x="313183" y="228602"/>
            <a:ext cx="115740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sz="1800" b="1">
                <a:solidFill>
                  <a:srgbClr val="0C2340"/>
                </a:solidFill>
                <a:latin typeface="Calibri"/>
              </a:defRPr>
            </a:pPr>
            <a:r>
              <a:t>14. BIBLIOGRAPHY &amp; TECHNICAL REFERENCES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g3346804e54d_0_17713"/>
          <p:cNvSpPr txBox="1">
            <a:spLocks noGrp="1"/>
          </p:cNvSpPr>
          <p:nvPr>
            <p:ph type="subTitle" idx="1"/>
          </p:nvPr>
        </p:nvSpPr>
        <p:spPr>
          <a:xfrm>
            <a:off x="304800" y="990600"/>
            <a:ext cx="11582400" cy="54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1450" lvl="0" indent="-171450" algn="just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Django Software Foundation: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"Django 5.x Web Framework Documentation and Architectural Patterns," 2026. [Online]. https://docs.djangoproject.com/</a:t>
            </a:r>
            <a:endParaRPr dirty="0"/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Python Software Foundation: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"Python 3.14 Language Specification &amp; Standard Library Reference," 2026. [Online]. https://docs.python.org/3/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100" b="1" dirty="0" err="1">
                <a:solidFill>
                  <a:srgbClr val="0C2340"/>
                </a:solidFill>
                <a:latin typeface="Calibri"/>
              </a:rPr>
              <a:t>Razorpay</a:t>
            </a:r>
            <a:r>
              <a:rPr sz="1100" b="1" dirty="0">
                <a:solidFill>
                  <a:srgbClr val="0C2340"/>
                </a:solidFill>
                <a:latin typeface="Calibri"/>
              </a:rPr>
              <a:t> Developers: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"</a:t>
            </a:r>
            <a:r>
              <a:rPr sz="1100" dirty="0" err="1">
                <a:solidFill>
                  <a:srgbClr val="282C34"/>
                </a:solidFill>
                <a:latin typeface="Calibri"/>
              </a:rPr>
              <a:t>Razorpay</a:t>
            </a:r>
            <a:r>
              <a:rPr sz="1100" dirty="0">
                <a:solidFill>
                  <a:srgbClr val="282C34"/>
                </a:solidFill>
                <a:latin typeface="Calibri"/>
              </a:rPr>
              <a:t> Payment Gateway Web Integration Standard Guide &amp; Checkout.js," 2026. [Online]. https://razorpay.com/docs/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Bootstrap Core Team: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"Bootstrap 5.3 Component Library, Flexbox Grid and </a:t>
            </a:r>
            <a:r>
              <a:rPr sz="1100" dirty="0" err="1">
                <a:solidFill>
                  <a:srgbClr val="282C34"/>
                </a:solidFill>
                <a:latin typeface="Calibri"/>
              </a:rPr>
              <a:t>Glassmorphism</a:t>
            </a:r>
            <a:r>
              <a:rPr sz="1100" dirty="0">
                <a:solidFill>
                  <a:srgbClr val="282C34"/>
                </a:solidFill>
                <a:latin typeface="Calibri"/>
              </a:rPr>
              <a:t> Utilities," 2026. [Online]. https://getbootstrap.com/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A. Silberschatz, H. F. Korth, and S. Sudarshan: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Database System Concepts, 7th ed. McGraw-Hill Education, 2020.</a:t>
            </a:r>
          </a:p>
          <a:p>
            <a:pPr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100" b="1" dirty="0">
                <a:solidFill>
                  <a:srgbClr val="0C2340"/>
                </a:solidFill>
                <a:latin typeface="Calibri"/>
              </a:rPr>
              <a:t>Silver Oak University: </a:t>
            </a:r>
            <a:r>
              <a:rPr sz="1100" dirty="0">
                <a:solidFill>
                  <a:srgbClr val="282C34"/>
                </a:solidFill>
                <a:latin typeface="Calibri"/>
              </a:rPr>
              <a:t>Guidelines for MCA Minor Project (CAM6053C) Curriculum and Presentation Evaluation Rubrics, Ahmedabad, 2026.</a:t>
            </a:r>
          </a:p>
        </p:txBody>
      </p:sp>
      <p:sp>
        <p:nvSpPr>
          <p:cNvPr id="535" name="Google Shape;535;g3346804e54d_0_17713"/>
          <p:cNvSpPr>
            <a:spLocks noGrp="1"/>
          </p:cNvSpPr>
          <p:nvPr>
            <p:ph type="sldNum" idx="12"/>
          </p:nvPr>
        </p:nvSpPr>
        <p:spPr>
          <a:xfrm>
            <a:off x="10799627" y="6492300"/>
            <a:ext cx="562500" cy="365700"/>
          </a:xfrm>
          <a:prstGeom prst="ellipse">
            <a:avLst/>
          </a:prstGeom>
          <a:solidFill>
            <a:srgbClr val="1D1D1D">
              <a:alpha val="69020"/>
            </a:srgbClr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IN"/>
              <a:t>43</a:t>
            </a:fld>
            <a:endParaRPr/>
          </a:p>
        </p:txBody>
      </p:sp>
      <p:pic>
        <p:nvPicPr>
          <p:cNvPr id="536" name="Google Shape;536;g3346804e54d_0_177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15550" y="66675"/>
            <a:ext cx="1990726" cy="55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346804e54d_0_17874"/>
          <p:cNvSpPr txBox="1"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000" b="1">
                <a:solidFill>
                  <a:srgbClr val="0C2340"/>
                </a:solidFill>
              </a:defRPr>
            </a:pPr>
            <a:r>
              <a:t>THANK YOU!</a:t>
            </a:r>
            <a:br/>
            <a:br/>
            <a:endParaRPr/>
          </a:p>
          <a:p>
            <a:pPr algn="ctr">
              <a:defRPr sz="1800" b="1">
                <a:solidFill>
                  <a:srgbClr val="B48214"/>
                </a:solidFill>
              </a:defRPr>
            </a:pPr>
            <a:r>
              <a:t>AUTODRIVE: LUXURY CAR RENTAL SYSTEM &amp; FLEET SAAS</a:t>
            </a:r>
            <a:br/>
            <a:endParaRPr/>
          </a:p>
          <a:p>
            <a:pPr algn="ctr">
              <a:defRPr sz="1400">
                <a:solidFill>
                  <a:srgbClr val="282C34"/>
                </a:solidFill>
              </a:defRPr>
            </a:pPr>
            <a:r>
              <a:t>Department of Computer Application</a:t>
            </a:r>
            <a:br/>
            <a:r>
              <a:t>Silver Oak College of Computer Application | Silver Oak University</a:t>
            </a:r>
            <a:br/>
            <a:br/>
            <a:r>
              <a:t>Questions &amp; Discussion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4264</Words>
  <Application>Microsoft Office PowerPoint</Application>
  <PresentationFormat>Widescreen</PresentationFormat>
  <Paragraphs>650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2" baseType="lpstr">
      <vt:lpstr>Arial</vt:lpstr>
      <vt:lpstr>Bookman Old Style</vt:lpstr>
      <vt:lpstr>Calibri</vt:lpstr>
      <vt:lpstr>Noto Sans Symbols</vt:lpstr>
      <vt:lpstr>Quattrocento Sans</vt:lpstr>
      <vt:lpstr>Times New Roman</vt:lpstr>
      <vt:lpstr>Parcel</vt:lpstr>
      <vt:lpstr>Parcel</vt:lpstr>
      <vt:lpstr>PowerPoint Presentation</vt:lpstr>
      <vt:lpstr>PowerPoint Presentation</vt:lpstr>
      <vt:lpstr>2. LIMITATIONS OF EXISTING CAR RENTAL SYSTEMS</vt:lpstr>
      <vt:lpstr>3. NEED FOR NEW SYSTEM (AUTODRIVE)</vt:lpstr>
      <vt:lpstr> FUNCTIONAL SPECIFICATION </vt:lpstr>
      <vt:lpstr>4.1 USER OF THE SYSTEM </vt:lpstr>
      <vt:lpstr>4.1 USER OF THE SYSTEM </vt:lpstr>
      <vt:lpstr>5. SYSTEM REQUIREMENT</vt:lpstr>
      <vt:lpstr>5. SYSTEM REQUIREMENT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 SYSTEM SCREENSHOTS &amp; USER INTERFACES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13. FUTURE ENHANCEMENTS &amp; COMMERCIAL ROADMAP</vt:lpstr>
      <vt:lpstr>14. BIBLIOGRAPHY &amp; TECHNICAL REFERENCES</vt:lpstr>
      <vt:lpstr>THANK YOU!   AUTODRIVE: LUXURY CAR RENTAL SYSTEM &amp; FLEET SAAS  Department of Computer Application Silver Oak College of Computer Application | Silver Oak University  Questions &amp; Discussion (Q&amp;A)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Utsav Yagnik</dc:creator>
  <cp:lastModifiedBy>parekhmeet127@gmail.com</cp:lastModifiedBy>
  <cp:revision>4</cp:revision>
  <dcterms:created xsi:type="dcterms:W3CDTF">2020-09-07T10:12:37Z</dcterms:created>
  <dcterms:modified xsi:type="dcterms:W3CDTF">2026-10-23T18:19:43Z</dcterms:modified>
</cp:coreProperties>
</file>